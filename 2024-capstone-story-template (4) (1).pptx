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4"/>
  </p:notesMasterIdLst>
  <p:sldIdLst>
    <p:sldId id="256" r:id="rId5"/>
    <p:sldId id="257" r:id="rId6"/>
    <p:sldId id="258" r:id="rId7"/>
    <p:sldId id="259" r:id="rId8"/>
    <p:sldId id="260"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Lst>
  <p:sldSz cx="12192000" cy="6858000"/>
  <p:notesSz cx="6858000" cy="1857375"/>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44" userDrawn="1">
          <p15:clr>
            <a:srgbClr val="A4A3A4"/>
          </p15:clr>
        </p15:guide>
        <p15:guide id="2" pos="28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D3AA52-0FB4-F6D0-6D07-1A3D2D9FD3FC}" name="Marianne Seidler" initials="MS" userId="S::mariannes@skillup.tech::bb0b4178-c940-4a9a-9c5e-e97bf5d50d86" providerId="AD"/>
  <p188:author id="{F554C3DC-94B8-9F7D-83FC-6D4CEC0DE845}" name="Dawn Teel-Friedman" initials="DTF" userId="Dawn Teel-Friedma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Rose Malcolm" initials="RM" lastIdx="1" clrIdx="0">
    <p:extLst>
      <p:ext uri="{19B8F6BF-5375-455C-9EA6-DF929625EA0E}">
        <p15:presenceInfo xmlns:p15="http://schemas.microsoft.com/office/powerpoint/2012/main" userId="Rose Malcolm" providerId="None"/>
      </p:ext>
    </p:extLst>
  </p:cmAuthor>
  <p:cmAuthor id="2" name="Rose Malcolm" initials="RM [2]" lastIdx="7" clrIdx="1">
    <p:extLst>
      <p:ext uri="{19B8F6BF-5375-455C-9EA6-DF929625EA0E}">
        <p15:presenceInfo xmlns:p15="http://schemas.microsoft.com/office/powerpoint/2012/main" userId="17c9fa32013483c0" providerId="Windows Live"/>
      </p:ext>
    </p:extLst>
  </p:cmAuthor>
  <p:cmAuthor id="3" name="Ramesh Sannareddy" initials="RS" lastIdx="7" clrIdx="2">
    <p:extLst>
      <p:ext uri="{19B8F6BF-5375-455C-9EA6-DF929625EA0E}">
        <p15:presenceInfo xmlns:p15="http://schemas.microsoft.com/office/powerpoint/2012/main" userId="YZ5PSXVD06EfD4/04RF+4IpszM4ZmL7FtUZDJf4jPLA=" providerId="None"/>
      </p:ext>
    </p:extLst>
  </p:cmAuthor>
  <p:cmAuthor id="4" name="UPKAR LIDDER" initials="UL" lastIdx="2" clrIdx="3"/>
  <p:cmAuthor id="5" name="Beth Larsen" initials="BL" lastIdx="1" clrIdx="4">
    <p:extLst>
      <p:ext uri="{19B8F6BF-5375-455C-9EA6-DF929625EA0E}">
        <p15:presenceInfo xmlns:p15="http://schemas.microsoft.com/office/powerpoint/2012/main" userId="04edb8684ac0beb8" providerId="Windows Live"/>
      </p:ext>
    </p:extLst>
  </p:cmAuthor>
  <p:cmAuthor id="6" name="Matt Ockenfels" initials="MO" lastIdx="1" clrIdx="5">
    <p:extLst>
      <p:ext uri="{19B8F6BF-5375-455C-9EA6-DF929625EA0E}">
        <p15:presenceInfo xmlns:p15="http://schemas.microsoft.com/office/powerpoint/2012/main" userId="S::matto@skillup.tech::1f5f8b86-5465-4302-9a82-9a36d055e8b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C3"/>
    <a:srgbClr val="007D79"/>
    <a:srgbClr val="D02670"/>
    <a:srgbClr val="231F20"/>
    <a:srgbClr val="33B1FF"/>
    <a:srgbClr val="262626"/>
    <a:srgbClr val="525252"/>
    <a:srgbClr val="BE95FF"/>
    <a:srgbClr val="FFFFFF"/>
    <a:srgbClr val="C1C7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8A5FB6-7311-4EF7-B400-CB40439580F7}" v="718" dt="2025-11-23T21:21:23.315"/>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713" autoAdjust="0"/>
    <p:restoredTop sz="91480" autoAdjust="0"/>
  </p:normalViewPr>
  <p:slideViewPr>
    <p:cSldViewPr snapToGrid="0">
      <p:cViewPr varScale="1">
        <p:scale>
          <a:sx n="70" d="100"/>
          <a:sy n="70" d="100"/>
        </p:scale>
        <p:origin x="38" y="101"/>
      </p:cViewPr>
      <p:guideLst>
        <p:guide orient="horz" pos="744"/>
        <p:guide pos="288"/>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8"/>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8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1"/>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0,'6'0,"-4"6,-2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3"/>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5"/>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30T05:40:55.09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497948-54D2-43F8-9A63-A99FE3051738}" type="datetimeFigureOut">
              <a:rPr lang="en-US" smtClean="0"/>
              <a:t>11/23/2025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r>
              <a:rPr lang="en-US"/>
              <a:t> </a:t>
            </a: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BDA0E2-FEBD-4B65-8F16-724CF984F377}" type="slidenum">
              <a:rPr lang="en-US" smtClean="0"/>
              <a:t>‹#›</a:t>
            </a:fld>
            <a:endParaRPr lang="en-US"/>
          </a:p>
        </p:txBody>
      </p:sp>
    </p:spTree>
    <p:extLst>
      <p:ext uri="{BB962C8B-B14F-4D97-AF65-F5344CB8AC3E}">
        <p14:creationId xmlns:p14="http://schemas.microsoft.com/office/powerpoint/2010/main" val="2802222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13873" y="1168401"/>
            <a:ext cx="10964254" cy="2387600"/>
          </a:xfrm>
          <a:solidFill>
            <a:schemeClr val="bg2"/>
          </a:solidFill>
        </p:spPr>
        <p:txBody>
          <a:bodyPr anchor="b">
            <a:normAutofit/>
          </a:bodyPr>
          <a:lstStyle>
            <a:lvl1pPr algn="ctr">
              <a:defRPr sz="4800" b="0"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8273" y="3731247"/>
            <a:ext cx="9135454" cy="1655762"/>
          </a:xfrm>
        </p:spPr>
        <p:txBody>
          <a:bodyPr>
            <a:normAutofit/>
          </a:bodyPr>
          <a:lstStyle>
            <a:lvl1pPr marL="0" indent="0" algn="ctr">
              <a:buNone/>
              <a:defRPr sz="2400" b="0" i="0">
                <a:solidFill>
                  <a:srgbClr val="525252"/>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8" name="Straight Connector 7"/>
          <p:cNvCxnSpPr/>
          <p:nvPr/>
        </p:nvCxnSpPr>
        <p:spPr>
          <a:xfrm>
            <a:off x="2880360" y="3649111"/>
            <a:ext cx="6431280" cy="0"/>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
        <p:nvSpPr>
          <p:cNvPr id="9" name="Rectangle 8"/>
          <p:cNvSpPr>
            <a:spLocks noChangeArrowheads="1"/>
          </p:cNvSpPr>
          <p:nvPr/>
        </p:nvSpPr>
        <p:spPr bwMode="black">
          <a:xfrm>
            <a:off x="4093580" y="5537419"/>
            <a:ext cx="4004840" cy="304359"/>
          </a:xfrm>
          <a:prstGeom prst="rect">
            <a:avLst/>
          </a:prstGeom>
          <a:noFill/>
          <a:ln w="9525">
            <a:noFill/>
            <a:miter lim="800000"/>
            <a:headEnd/>
            <a:tailEnd/>
          </a:ln>
        </p:spPr>
        <p:txBody>
          <a:bodyPr lIns="92075" tIns="46038" rIns="92075" bIns="46038"/>
          <a:lstStyle>
            <a:lvl1pPr eaLnBrk="0" hangingPunct="0">
              <a:defRPr b="1">
                <a:solidFill>
                  <a:schemeClr val="tx1"/>
                </a:solidFill>
                <a:latin typeface="Arial" panose="020B0604020202020204" pitchFamily="34" charset="0"/>
                <a:cs typeface="Arial" panose="020B0604020202020204" pitchFamily="34" charset="0"/>
              </a:defRPr>
            </a:lvl1pPr>
            <a:lvl2pPr marL="742950" indent="-285750" eaLnBrk="0" hangingPunct="0">
              <a:defRPr b="1">
                <a:solidFill>
                  <a:schemeClr val="tx1"/>
                </a:solidFill>
                <a:latin typeface="Arial" panose="020B0604020202020204" pitchFamily="34" charset="0"/>
                <a:cs typeface="Arial" panose="020B0604020202020204" pitchFamily="34" charset="0"/>
              </a:defRPr>
            </a:lvl2pPr>
            <a:lvl3pPr marL="1143000" indent="-228600" eaLnBrk="0" hangingPunct="0">
              <a:defRPr b="1">
                <a:solidFill>
                  <a:schemeClr val="tx1"/>
                </a:solidFill>
                <a:latin typeface="Arial" panose="020B0604020202020204" pitchFamily="34" charset="0"/>
                <a:cs typeface="Arial" panose="020B0604020202020204" pitchFamily="34" charset="0"/>
              </a:defRPr>
            </a:lvl3pPr>
            <a:lvl4pPr marL="1600200" indent="-228600" eaLnBrk="0" hangingPunct="0">
              <a:defRPr b="1">
                <a:solidFill>
                  <a:schemeClr val="tx1"/>
                </a:solidFill>
                <a:latin typeface="Arial" panose="020B0604020202020204" pitchFamily="34" charset="0"/>
                <a:cs typeface="Arial" panose="020B0604020202020204" pitchFamily="34" charset="0"/>
              </a:defRPr>
            </a:lvl4pPr>
            <a:lvl5pPr marL="2057400" indent="-228600" eaLnBrk="0" hangingPunct="0">
              <a:defRPr b="1">
                <a:solidFill>
                  <a:schemeClr val="tx1"/>
                </a:solidFill>
                <a:latin typeface="Arial" panose="020B0604020202020204" pitchFamily="34" charset="0"/>
                <a:cs typeface="Arial" panose="020B0604020202020204" pitchFamily="34" charset="0"/>
              </a:defRPr>
            </a:lvl5pPr>
            <a:lvl6pPr marL="25146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6pPr>
            <a:lvl7pPr marL="29718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7pPr>
            <a:lvl8pPr marL="34290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8pPr>
            <a:lvl9pPr marL="3886200" indent="-228600" algn="r" eaLnBrk="0" fontAlgn="base" hangingPunct="0">
              <a:spcBef>
                <a:spcPct val="0"/>
              </a:spcBef>
              <a:spcAft>
                <a:spcPct val="0"/>
              </a:spcAft>
              <a:defRPr b="1">
                <a:solidFill>
                  <a:schemeClr val="tx1"/>
                </a:solidFill>
                <a:latin typeface="Arial" panose="020B0604020202020204" pitchFamily="34" charset="0"/>
                <a:cs typeface="Arial" panose="020B0604020202020204" pitchFamily="34" charset="0"/>
              </a:defRPr>
            </a:lvl9pPr>
          </a:lstStyle>
          <a:p>
            <a:pPr algn="ctr" eaLnBrk="1" hangingPunct="1"/>
            <a:r>
              <a:rPr lang="en-US" sz="1400" b="0">
                <a:solidFill>
                  <a:srgbClr val="000000"/>
                </a:solidFill>
                <a:latin typeface="Helv"/>
              </a:rPr>
              <a:t>© IBM Corporation. All rights reserved.</a:t>
            </a:r>
          </a:p>
        </p:txBody>
      </p:sp>
      <p:grpSp>
        <p:nvGrpSpPr>
          <p:cNvPr id="5" name="Group 4">
            <a:extLst>
              <a:ext uri="{FF2B5EF4-FFF2-40B4-BE49-F238E27FC236}">
                <a16:creationId xmlns:a16="http://schemas.microsoft.com/office/drawing/2014/main" id="{CB5BAB42-A6B6-D2DB-EC91-721CA287B900}"/>
              </a:ext>
            </a:extLst>
          </p:cNvPr>
          <p:cNvGrpSpPr/>
          <p:nvPr userDrawn="1"/>
        </p:nvGrpSpPr>
        <p:grpSpPr>
          <a:xfrm>
            <a:off x="11094856" y="6244940"/>
            <a:ext cx="1098532" cy="613059"/>
            <a:chOff x="8965342" y="4231217"/>
            <a:chExt cx="1608171" cy="897474"/>
          </a:xfrm>
        </p:grpSpPr>
        <p:pic>
          <p:nvPicPr>
            <p:cNvPr id="6" name="Graphic 5">
              <a:extLst>
                <a:ext uri="{FF2B5EF4-FFF2-40B4-BE49-F238E27FC236}">
                  <a16:creationId xmlns:a16="http://schemas.microsoft.com/office/drawing/2014/main" id="{D9DAF80D-4D83-4EA4-3B9A-B4DEAA21CF4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321121" y="4418033"/>
              <a:ext cx="897474" cy="355817"/>
            </a:xfrm>
            <a:prstGeom prst="rect">
              <a:avLst/>
            </a:prstGeom>
          </p:spPr>
        </p:pic>
        <p:pic>
          <p:nvPicPr>
            <p:cNvPr id="11" name="Graphic 10" hidden="1">
              <a:extLst>
                <a:ext uri="{FF2B5EF4-FFF2-40B4-BE49-F238E27FC236}">
                  <a16:creationId xmlns:a16="http://schemas.microsoft.com/office/drawing/2014/main" id="{AA1B3EED-0A38-9B4D-C031-B7CFB1F16CD2}"/>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321121" y="4772874"/>
              <a:ext cx="897474" cy="355817"/>
            </a:xfrm>
            <a:prstGeom prst="rect">
              <a:avLst/>
            </a:prstGeom>
          </p:spPr>
        </p:pic>
        <p:pic>
          <p:nvPicPr>
            <p:cNvPr id="12" name="Graphic 11" hidden="1">
              <a:extLst>
                <a:ext uri="{FF2B5EF4-FFF2-40B4-BE49-F238E27FC236}">
                  <a16:creationId xmlns:a16="http://schemas.microsoft.com/office/drawing/2014/main" id="{D8BA40FF-052F-CEA2-8570-24062BFE0A7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9946868" y="4502045"/>
              <a:ext cx="897474" cy="355817"/>
            </a:xfrm>
            <a:prstGeom prst="rect">
              <a:avLst/>
            </a:prstGeom>
          </p:spPr>
        </p:pic>
        <p:pic>
          <p:nvPicPr>
            <p:cNvPr id="13" name="Graphic 12" hidden="1">
              <a:extLst>
                <a:ext uri="{FF2B5EF4-FFF2-40B4-BE49-F238E27FC236}">
                  <a16:creationId xmlns:a16="http://schemas.microsoft.com/office/drawing/2014/main" id="{10305589-4F05-9658-71A7-2F6E7BFE952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rot="16200000">
              <a:off x="8694514" y="4502045"/>
              <a:ext cx="897474" cy="355817"/>
            </a:xfrm>
            <a:prstGeom prst="rect">
              <a:avLst/>
            </a:prstGeom>
          </p:spPr>
        </p:pic>
      </p:grpSp>
      <p:pic>
        <p:nvPicPr>
          <p:cNvPr id="14" name="Graphic 13">
            <a:extLst>
              <a:ext uri="{FF2B5EF4-FFF2-40B4-BE49-F238E27FC236}">
                <a16:creationId xmlns:a16="http://schemas.microsoft.com/office/drawing/2014/main" id="{EEFE9B80-1CD0-9614-4D99-C0FA5B74A8B1}"/>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241053" y="6372101"/>
            <a:ext cx="1630680" cy="247650"/>
          </a:xfrm>
          <a:prstGeom prst="rect">
            <a:avLst/>
          </a:prstGeom>
        </p:spPr>
      </p:pic>
    </p:spTree>
    <p:custDataLst>
      <p:tags r:id="rId1"/>
    </p:custDataLst>
    <p:extLst>
      <p:ext uri="{BB962C8B-B14F-4D97-AF65-F5344CB8AC3E}">
        <p14:creationId xmlns:p14="http://schemas.microsoft.com/office/powerpoint/2010/main" val="3736152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525252"/>
                </a:solidFill>
              </a:defRPr>
            </a:lvl1pPr>
          </a:lstStyle>
          <a:p>
            <a:r>
              <a:rPr lang="en-US"/>
              <a:t>Click to edit Master title style</a:t>
            </a:r>
            <a:endParaRPr lang="en-US" dirty="0"/>
          </a:p>
        </p:txBody>
      </p:sp>
      <p:sp>
        <p:nvSpPr>
          <p:cNvPr id="3" name="Content Placeholder 2"/>
          <p:cNvSpPr>
            <a:spLocks noGrp="1"/>
          </p:cNvSpPr>
          <p:nvPr>
            <p:ph idx="1"/>
          </p:nvPr>
        </p:nvSpPr>
        <p:spPr>
          <a:xfrm>
            <a:off x="838200" y="1600199"/>
            <a:ext cx="107442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262626"/>
                </a:solidFill>
              </a:defRPr>
            </a:lvl4pPr>
            <a:lvl5pPr>
              <a:defRPr>
                <a:solidFill>
                  <a:srgbClr val="262626"/>
                </a:solidFill>
              </a:defRPr>
            </a:lvl5pPr>
          </a:lstStyle>
          <a:p>
            <a:pPr lvl="0"/>
            <a:r>
              <a:rPr lang="en-US"/>
              <a:t>Click to edit Master text styles</a:t>
            </a:r>
          </a:p>
          <a:p>
            <a:pPr lvl="1"/>
            <a:r>
              <a:rPr lang="en-US"/>
              <a:t>Second level</a:t>
            </a:r>
          </a:p>
          <a:p>
            <a:pPr lvl="2"/>
            <a:r>
              <a:rPr lang="en-US"/>
              <a:t>Third level</a:t>
            </a:r>
          </a:p>
        </p:txBody>
      </p:sp>
      <p:cxnSp>
        <p:nvCxnSpPr>
          <p:cNvPr id="7" name="Straight Connector 6"/>
          <p:cNvCxnSpPr/>
          <p:nvPr/>
        </p:nvCxnSpPr>
        <p:spPr>
          <a:xfrm>
            <a:off x="838200" y="1296645"/>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970299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i="0">
                <a:solidFill>
                  <a:srgbClr val="525252"/>
                </a:solidFill>
                <a:latin typeface="IBM Plex Sans SemiBold" panose="020B0503050203000203" pitchFamily="34" charset="0"/>
              </a:defRPr>
            </a:lvl1pPr>
          </a:lstStyle>
          <a:p>
            <a:r>
              <a:rPr lang="en-US"/>
              <a:t>Click to edit Master title style</a:t>
            </a:r>
            <a:endParaRPr lang="en-US" dirty="0"/>
          </a:p>
        </p:txBody>
      </p:sp>
      <p:sp>
        <p:nvSpPr>
          <p:cNvPr id="3" name="Content Placeholder 2"/>
          <p:cNvSpPr>
            <a:spLocks noGrp="1"/>
          </p:cNvSpPr>
          <p:nvPr>
            <p:ph sz="half" idx="1"/>
          </p:nvPr>
        </p:nvSpPr>
        <p:spPr>
          <a:xfrm>
            <a:off x="838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72200" y="1600200"/>
            <a:ext cx="5181600" cy="4572000"/>
          </a:xfrm>
        </p:spPr>
        <p:txBody>
          <a:bodyPr/>
          <a:lstStyle>
            <a:lvl1pPr>
              <a:defRPr>
                <a:solidFill>
                  <a:srgbClr val="262626"/>
                </a:solidFill>
              </a:defRPr>
            </a:lvl1pPr>
            <a:lvl2pPr>
              <a:defRPr>
                <a:solidFill>
                  <a:srgbClr val="262626"/>
                </a:solidFill>
              </a:defRPr>
            </a:lvl2pPr>
            <a:lvl3pPr>
              <a:defRPr>
                <a:solidFill>
                  <a:srgbClr val="262626"/>
                </a:solidFill>
              </a:defRPr>
            </a:lvl3pPr>
            <a:lvl4pPr>
              <a:defRPr>
                <a:solidFill>
                  <a:srgbClr val="525252"/>
                </a:solidFill>
              </a:defRPr>
            </a:lvl4pPr>
            <a:lvl5pPr>
              <a:defRPr>
                <a:solidFill>
                  <a:srgbClr val="525252"/>
                </a:solidFill>
              </a:defRPr>
            </a:lvl5pPr>
          </a:lstStyle>
          <a:p>
            <a:pPr lvl="0"/>
            <a:r>
              <a:rPr lang="en-US"/>
              <a:t>Click to edit Master text styles</a:t>
            </a:r>
          </a:p>
          <a:p>
            <a:pPr lvl="1"/>
            <a:r>
              <a:rPr lang="en-US"/>
              <a:t>Second level</a:t>
            </a:r>
          </a:p>
          <a:p>
            <a:pPr lvl="2"/>
            <a:r>
              <a:rPr lang="en-US"/>
              <a:t>Third level</a:t>
            </a:r>
          </a:p>
        </p:txBody>
      </p:sp>
      <p:cxnSp>
        <p:nvCxnSpPr>
          <p:cNvPr id="8" name="Straight Connector 7"/>
          <p:cNvCxnSpPr/>
          <p:nvPr/>
        </p:nvCxnSpPr>
        <p:spPr>
          <a:xfrm>
            <a:off x="838200" y="1364249"/>
            <a:ext cx="10515600" cy="368"/>
          </a:xfrm>
          <a:prstGeom prst="line">
            <a:avLst/>
          </a:prstGeom>
          <a:ln>
            <a:solidFill>
              <a:srgbClr val="6C4DEA"/>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87134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793464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Title 1"/>
          <p:cNvSpPr>
            <a:spLocks noGrp="1"/>
          </p:cNvSpPr>
          <p:nvPr>
            <p:ph type="ctrTitle"/>
          </p:nvPr>
        </p:nvSpPr>
        <p:spPr>
          <a:xfrm>
            <a:off x="1524000" y="1122363"/>
            <a:ext cx="9144000" cy="2387600"/>
          </a:xfrm>
        </p:spPr>
        <p:txBody>
          <a:bodyPr anchor="b">
            <a:normAutofit/>
          </a:bodyPr>
          <a:lstStyle>
            <a:lvl1pPr algn="ctr">
              <a:defRPr sz="4800" b="1" i="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Click to edit Master title style</a:t>
            </a:r>
          </a:p>
        </p:txBody>
      </p:sp>
    </p:spTree>
    <p:extLst>
      <p:ext uri="{BB962C8B-B14F-4D97-AF65-F5344CB8AC3E}">
        <p14:creationId xmlns:p14="http://schemas.microsoft.com/office/powerpoint/2010/main" val="1173270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2_Blank">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7246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13"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3.svg"/><Relationship Id="rId2" Type="http://schemas.openxmlformats.org/officeDocument/2006/relationships/slideLayout" Target="../slideLayouts/slideLayout2.xml"/><Relationship Id="rId16" Type="http://schemas.openxmlformats.org/officeDocument/2006/relationships/image" Target="../media/image7.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image" Target="../media/image6.png"/><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 Id="rId14"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4785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pic>
        <p:nvPicPr>
          <p:cNvPr id="12" name="Picture 11" descr="Text, logo&#10;&#10;Description automatically generated">
            <a:extLst>
              <a:ext uri="{FF2B5EF4-FFF2-40B4-BE49-F238E27FC236}">
                <a16:creationId xmlns:a16="http://schemas.microsoft.com/office/drawing/2014/main" id="{05161552-D656-B925-AB2F-4CA5F6FE7270}"/>
              </a:ext>
            </a:extLst>
          </p:cNvPr>
          <p:cNvPicPr>
            <a:picLocks noChangeAspect="1"/>
          </p:cNvPicPr>
          <p:nvPr userDrawn="1"/>
        </p:nvPicPr>
        <p:blipFill rotWithShape="1">
          <a:blip r:embed="rId9">
            <a:alphaModFix amt="5000"/>
            <a:extLst>
              <a:ext uri="{BEBA8EAE-BF5A-486C-A8C5-ECC9F3942E4B}">
                <a14:imgProps xmlns:a14="http://schemas.microsoft.com/office/drawing/2010/main">
                  <a14:imgLayer r:embed="rId10">
                    <a14:imgEffect>
                      <a14:saturation sat="155000"/>
                    </a14:imgEffect>
                    <a14:imgEffect>
                      <a14:brightnessContrast contrast="-77000"/>
                    </a14:imgEffect>
                  </a14:imgLayer>
                </a14:imgProps>
              </a:ext>
            </a:extLst>
          </a:blip>
          <a:srcRect l="-1923" r="70315"/>
          <a:stretch/>
        </p:blipFill>
        <p:spPr>
          <a:xfrm>
            <a:off x="3345127" y="1418811"/>
            <a:ext cx="5501746" cy="4826130"/>
          </a:xfrm>
          <a:prstGeom prst="rect">
            <a:avLst/>
          </a:prstGeom>
        </p:spPr>
      </p:pic>
      <p:sp>
        <p:nvSpPr>
          <p:cNvPr id="4" name="Rectangle 3">
            <a:extLst>
              <a:ext uri="{FF2B5EF4-FFF2-40B4-BE49-F238E27FC236}">
                <a16:creationId xmlns:a16="http://schemas.microsoft.com/office/drawing/2014/main" id="{AE377BDD-6725-68B2-639C-E47C9B4601F2}"/>
              </a:ext>
            </a:extLst>
          </p:cNvPr>
          <p:cNvSpPr/>
          <p:nvPr userDrawn="1"/>
        </p:nvSpPr>
        <p:spPr>
          <a:xfrm>
            <a:off x="12625444" y="2728308"/>
            <a:ext cx="1235879" cy="1235878"/>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#BE95FF</a:t>
            </a:r>
          </a:p>
        </p:txBody>
      </p:sp>
      <p:sp>
        <p:nvSpPr>
          <p:cNvPr id="5" name="Rectangle 4">
            <a:extLst>
              <a:ext uri="{FF2B5EF4-FFF2-40B4-BE49-F238E27FC236}">
                <a16:creationId xmlns:a16="http://schemas.microsoft.com/office/drawing/2014/main" id="{18771CE0-19C9-5FCF-1B71-ACF36DEE6664}"/>
              </a:ext>
            </a:extLst>
          </p:cNvPr>
          <p:cNvSpPr/>
          <p:nvPr userDrawn="1"/>
        </p:nvSpPr>
        <p:spPr>
          <a:xfrm>
            <a:off x="18071881" y="2728308"/>
            <a:ext cx="1235879" cy="1235878"/>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#33B1FF</a:t>
            </a:r>
          </a:p>
        </p:txBody>
      </p:sp>
      <p:sp>
        <p:nvSpPr>
          <p:cNvPr id="6" name="Rectangle 5">
            <a:extLst>
              <a:ext uri="{FF2B5EF4-FFF2-40B4-BE49-F238E27FC236}">
                <a16:creationId xmlns:a16="http://schemas.microsoft.com/office/drawing/2014/main" id="{832A3F44-3AAC-9557-E214-F323108F6B65}"/>
              </a:ext>
            </a:extLst>
          </p:cNvPr>
          <p:cNvSpPr/>
          <p:nvPr userDrawn="1"/>
        </p:nvSpPr>
        <p:spPr>
          <a:xfrm>
            <a:off x="14440923" y="2728308"/>
            <a:ext cx="1235879" cy="1235878"/>
          </a:xfrm>
          <a:prstGeom prst="rect">
            <a:avLst/>
          </a:prstGeom>
          <a:solidFill>
            <a:srgbClr val="FF7EB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#FF7EB6</a:t>
            </a:r>
          </a:p>
        </p:txBody>
      </p:sp>
      <p:sp>
        <p:nvSpPr>
          <p:cNvPr id="9" name="Rectangle 8">
            <a:extLst>
              <a:ext uri="{FF2B5EF4-FFF2-40B4-BE49-F238E27FC236}">
                <a16:creationId xmlns:a16="http://schemas.microsoft.com/office/drawing/2014/main" id="{06EA0613-E945-E437-C733-F9F008F63B76}"/>
              </a:ext>
            </a:extLst>
          </p:cNvPr>
          <p:cNvSpPr/>
          <p:nvPr userDrawn="1"/>
        </p:nvSpPr>
        <p:spPr>
          <a:xfrm>
            <a:off x="16256402" y="2728308"/>
            <a:ext cx="1235879" cy="1235878"/>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#08BDBA</a:t>
            </a:r>
          </a:p>
        </p:txBody>
      </p:sp>
      <p:sp>
        <p:nvSpPr>
          <p:cNvPr id="10" name="TextBox 9">
            <a:extLst>
              <a:ext uri="{FF2B5EF4-FFF2-40B4-BE49-F238E27FC236}">
                <a16:creationId xmlns:a16="http://schemas.microsoft.com/office/drawing/2014/main" id="{F0EC5687-C25A-A73E-5192-674F560F89FA}"/>
              </a:ext>
            </a:extLst>
          </p:cNvPr>
          <p:cNvSpPr txBox="1"/>
          <p:nvPr userDrawn="1"/>
        </p:nvSpPr>
        <p:spPr>
          <a:xfrm>
            <a:off x="12602453" y="3912427"/>
            <a:ext cx="1237839" cy="369332"/>
          </a:xfrm>
          <a:prstGeom prst="rect">
            <a:avLst/>
          </a:prstGeom>
          <a:noFill/>
        </p:spPr>
        <p:txBody>
          <a:bodyPr wrap="none" rtlCol="0">
            <a:spAutoFit/>
          </a:bodyPr>
          <a:lstStyle/>
          <a:p>
            <a:r>
              <a:rPr lang="en-US" b="1" i="0" dirty="0">
                <a:solidFill>
                  <a:srgbClr val="FFFFFF"/>
                </a:solidFill>
                <a:effectLst/>
              </a:rPr>
              <a:t>Purple 40</a:t>
            </a:r>
            <a:endParaRPr lang="en-US" b="1" dirty="0">
              <a:solidFill>
                <a:srgbClr val="FFFFFF"/>
              </a:solidFill>
            </a:endParaRPr>
          </a:p>
        </p:txBody>
      </p:sp>
      <p:sp>
        <p:nvSpPr>
          <p:cNvPr id="13" name="TextBox 12">
            <a:extLst>
              <a:ext uri="{FF2B5EF4-FFF2-40B4-BE49-F238E27FC236}">
                <a16:creationId xmlns:a16="http://schemas.microsoft.com/office/drawing/2014/main" id="{C31F4021-33FE-506B-3C0D-688FEF669647}"/>
              </a:ext>
            </a:extLst>
          </p:cNvPr>
          <p:cNvSpPr txBox="1"/>
          <p:nvPr userDrawn="1"/>
        </p:nvSpPr>
        <p:spPr>
          <a:xfrm>
            <a:off x="14334144" y="3912427"/>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40</a:t>
            </a:r>
            <a:endParaRPr lang="en-US" b="1" dirty="0">
              <a:solidFill>
                <a:srgbClr val="FFFFFF"/>
              </a:solidFill>
            </a:endParaRPr>
          </a:p>
        </p:txBody>
      </p:sp>
      <p:sp>
        <p:nvSpPr>
          <p:cNvPr id="14" name="TextBox 13">
            <a:extLst>
              <a:ext uri="{FF2B5EF4-FFF2-40B4-BE49-F238E27FC236}">
                <a16:creationId xmlns:a16="http://schemas.microsoft.com/office/drawing/2014/main" id="{586B112C-C780-5B47-83AA-D580E668C866}"/>
              </a:ext>
            </a:extLst>
          </p:cNvPr>
          <p:cNvSpPr txBox="1"/>
          <p:nvPr userDrawn="1"/>
        </p:nvSpPr>
        <p:spPr>
          <a:xfrm>
            <a:off x="16404771" y="3912427"/>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40</a:t>
            </a:r>
            <a:endParaRPr lang="en-US" b="1" dirty="0">
              <a:solidFill>
                <a:srgbClr val="FFFFFF"/>
              </a:solidFill>
            </a:endParaRPr>
          </a:p>
        </p:txBody>
      </p:sp>
      <p:sp>
        <p:nvSpPr>
          <p:cNvPr id="15" name="TextBox 14">
            <a:extLst>
              <a:ext uri="{FF2B5EF4-FFF2-40B4-BE49-F238E27FC236}">
                <a16:creationId xmlns:a16="http://schemas.microsoft.com/office/drawing/2014/main" id="{D92FC597-9201-21C6-383D-67750826F14D}"/>
              </a:ext>
            </a:extLst>
          </p:cNvPr>
          <p:cNvSpPr txBox="1"/>
          <p:nvPr userDrawn="1"/>
        </p:nvSpPr>
        <p:spPr>
          <a:xfrm>
            <a:off x="18206642" y="3912427"/>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40</a:t>
            </a:r>
            <a:endParaRPr lang="en-US" b="1" dirty="0">
              <a:solidFill>
                <a:srgbClr val="FFFFFF"/>
              </a:solidFill>
            </a:endParaRPr>
          </a:p>
        </p:txBody>
      </p:sp>
      <p:sp>
        <p:nvSpPr>
          <p:cNvPr id="16" name="Rectangle 15">
            <a:extLst>
              <a:ext uri="{FF2B5EF4-FFF2-40B4-BE49-F238E27FC236}">
                <a16:creationId xmlns:a16="http://schemas.microsoft.com/office/drawing/2014/main" id="{6B4A6D56-917B-72D3-81F7-A59A36FC4198}"/>
              </a:ext>
            </a:extLst>
          </p:cNvPr>
          <p:cNvSpPr/>
          <p:nvPr userDrawn="1"/>
        </p:nvSpPr>
        <p:spPr>
          <a:xfrm>
            <a:off x="12625444" y="4418033"/>
            <a:ext cx="1235879" cy="1235878"/>
          </a:xfrm>
          <a:prstGeom prst="rect">
            <a:avLst/>
          </a:prstGeom>
          <a:solidFill>
            <a:srgbClr val="8A3FFC"/>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#8A3FFC</a:t>
            </a:r>
          </a:p>
        </p:txBody>
      </p:sp>
      <p:sp>
        <p:nvSpPr>
          <p:cNvPr id="17" name="Rectangle 16">
            <a:extLst>
              <a:ext uri="{FF2B5EF4-FFF2-40B4-BE49-F238E27FC236}">
                <a16:creationId xmlns:a16="http://schemas.microsoft.com/office/drawing/2014/main" id="{49512372-0859-45E3-8DD7-AE730B4AFD19}"/>
              </a:ext>
            </a:extLst>
          </p:cNvPr>
          <p:cNvSpPr/>
          <p:nvPr userDrawn="1"/>
        </p:nvSpPr>
        <p:spPr>
          <a:xfrm>
            <a:off x="18071881" y="4418033"/>
            <a:ext cx="1235879" cy="1235878"/>
          </a:xfrm>
          <a:prstGeom prst="rect">
            <a:avLst/>
          </a:prstGeom>
          <a:solidFill>
            <a:srgbClr val="0072C3"/>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#0072C3</a:t>
            </a:r>
          </a:p>
        </p:txBody>
      </p:sp>
      <p:sp>
        <p:nvSpPr>
          <p:cNvPr id="18" name="Rectangle 17">
            <a:extLst>
              <a:ext uri="{FF2B5EF4-FFF2-40B4-BE49-F238E27FC236}">
                <a16:creationId xmlns:a16="http://schemas.microsoft.com/office/drawing/2014/main" id="{A4197D57-5F46-DB39-F81D-9205CC53189F}"/>
              </a:ext>
            </a:extLst>
          </p:cNvPr>
          <p:cNvSpPr/>
          <p:nvPr userDrawn="1"/>
        </p:nvSpPr>
        <p:spPr>
          <a:xfrm>
            <a:off x="14440923" y="4418033"/>
            <a:ext cx="1235879" cy="1235878"/>
          </a:xfrm>
          <a:prstGeom prst="rect">
            <a:avLst/>
          </a:prstGeom>
          <a:solidFill>
            <a:srgbClr val="D02670"/>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#D02670</a:t>
            </a:r>
          </a:p>
        </p:txBody>
      </p:sp>
      <p:sp>
        <p:nvSpPr>
          <p:cNvPr id="19" name="Rectangle 18">
            <a:extLst>
              <a:ext uri="{FF2B5EF4-FFF2-40B4-BE49-F238E27FC236}">
                <a16:creationId xmlns:a16="http://schemas.microsoft.com/office/drawing/2014/main" id="{570AA9B1-D6E7-98E2-49EF-C98B6F0E7E2F}"/>
              </a:ext>
            </a:extLst>
          </p:cNvPr>
          <p:cNvSpPr/>
          <p:nvPr userDrawn="1"/>
        </p:nvSpPr>
        <p:spPr>
          <a:xfrm>
            <a:off x="16256402" y="4418033"/>
            <a:ext cx="1235879" cy="1235878"/>
          </a:xfrm>
          <a:prstGeom prst="rect">
            <a:avLst/>
          </a:prstGeom>
          <a:solidFill>
            <a:srgbClr val="007D7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latin typeface="IBM Plex Sans" panose="020B0503050203000203" pitchFamily="34" charset="0"/>
              </a:rPr>
              <a:t>#007D79</a:t>
            </a:r>
          </a:p>
        </p:txBody>
      </p:sp>
      <p:sp>
        <p:nvSpPr>
          <p:cNvPr id="20" name="TextBox 19">
            <a:extLst>
              <a:ext uri="{FF2B5EF4-FFF2-40B4-BE49-F238E27FC236}">
                <a16:creationId xmlns:a16="http://schemas.microsoft.com/office/drawing/2014/main" id="{B0A9DFA7-88D2-04F7-451C-7A2C388B178F}"/>
              </a:ext>
            </a:extLst>
          </p:cNvPr>
          <p:cNvSpPr txBox="1"/>
          <p:nvPr userDrawn="1"/>
        </p:nvSpPr>
        <p:spPr>
          <a:xfrm>
            <a:off x="12602453" y="5602152"/>
            <a:ext cx="1237839" cy="369332"/>
          </a:xfrm>
          <a:prstGeom prst="rect">
            <a:avLst/>
          </a:prstGeom>
          <a:noFill/>
        </p:spPr>
        <p:txBody>
          <a:bodyPr wrap="none" rtlCol="0">
            <a:spAutoFit/>
          </a:bodyPr>
          <a:lstStyle/>
          <a:p>
            <a:r>
              <a:rPr lang="en-US" b="1" i="0" dirty="0">
                <a:solidFill>
                  <a:srgbClr val="FFFFFF"/>
                </a:solidFill>
                <a:effectLst/>
              </a:rPr>
              <a:t>Purple 60</a:t>
            </a:r>
            <a:endParaRPr lang="en-US" b="1" dirty="0">
              <a:solidFill>
                <a:srgbClr val="FFFFFF"/>
              </a:solidFill>
            </a:endParaRPr>
          </a:p>
        </p:txBody>
      </p:sp>
      <p:sp>
        <p:nvSpPr>
          <p:cNvPr id="21" name="TextBox 20">
            <a:extLst>
              <a:ext uri="{FF2B5EF4-FFF2-40B4-BE49-F238E27FC236}">
                <a16:creationId xmlns:a16="http://schemas.microsoft.com/office/drawing/2014/main" id="{92C98F8E-1DCD-3647-3613-DFFC7CDFF372}"/>
              </a:ext>
            </a:extLst>
          </p:cNvPr>
          <p:cNvSpPr txBox="1"/>
          <p:nvPr userDrawn="1"/>
        </p:nvSpPr>
        <p:spPr>
          <a:xfrm>
            <a:off x="14334144" y="5602152"/>
            <a:ext cx="1448025"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60</a:t>
            </a:r>
            <a:endParaRPr lang="en-US" b="1" dirty="0">
              <a:solidFill>
                <a:srgbClr val="FFFFFF"/>
              </a:solidFill>
            </a:endParaRPr>
          </a:p>
        </p:txBody>
      </p:sp>
      <p:sp>
        <p:nvSpPr>
          <p:cNvPr id="22" name="TextBox 21">
            <a:extLst>
              <a:ext uri="{FF2B5EF4-FFF2-40B4-BE49-F238E27FC236}">
                <a16:creationId xmlns:a16="http://schemas.microsoft.com/office/drawing/2014/main" id="{129F1073-373D-249D-C1F2-A527EB0210C9}"/>
              </a:ext>
            </a:extLst>
          </p:cNvPr>
          <p:cNvSpPr txBox="1"/>
          <p:nvPr userDrawn="1"/>
        </p:nvSpPr>
        <p:spPr>
          <a:xfrm>
            <a:off x="16404771" y="5602152"/>
            <a:ext cx="966931"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60</a:t>
            </a:r>
            <a:endParaRPr lang="en-US" b="1" dirty="0">
              <a:solidFill>
                <a:srgbClr val="FFFFFF"/>
              </a:solidFill>
            </a:endParaRPr>
          </a:p>
        </p:txBody>
      </p:sp>
      <p:sp>
        <p:nvSpPr>
          <p:cNvPr id="23" name="TextBox 22">
            <a:extLst>
              <a:ext uri="{FF2B5EF4-FFF2-40B4-BE49-F238E27FC236}">
                <a16:creationId xmlns:a16="http://schemas.microsoft.com/office/drawing/2014/main" id="{0D12B31A-8903-A616-B756-B8695FC8F38A}"/>
              </a:ext>
            </a:extLst>
          </p:cNvPr>
          <p:cNvSpPr txBox="1"/>
          <p:nvPr userDrawn="1"/>
        </p:nvSpPr>
        <p:spPr>
          <a:xfrm>
            <a:off x="18206642" y="5602152"/>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60</a:t>
            </a:r>
            <a:endParaRPr lang="en-US" b="1" dirty="0">
              <a:solidFill>
                <a:srgbClr val="FFFFFF"/>
              </a:solidFill>
            </a:endParaRPr>
          </a:p>
        </p:txBody>
      </p:sp>
      <p:sp>
        <p:nvSpPr>
          <p:cNvPr id="24" name="Rectangle 23">
            <a:extLst>
              <a:ext uri="{FF2B5EF4-FFF2-40B4-BE49-F238E27FC236}">
                <a16:creationId xmlns:a16="http://schemas.microsoft.com/office/drawing/2014/main" id="{61892CDF-E500-AD18-C0DB-5405AF35ADE4}"/>
              </a:ext>
            </a:extLst>
          </p:cNvPr>
          <p:cNvSpPr/>
          <p:nvPr userDrawn="1"/>
        </p:nvSpPr>
        <p:spPr>
          <a:xfrm>
            <a:off x="19512379" y="2712316"/>
            <a:ext cx="1267863" cy="1267862"/>
          </a:xfrm>
          <a:prstGeom prst="rect">
            <a:avLst/>
          </a:prstGeom>
          <a:solidFill>
            <a:srgbClr val="121619"/>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Icon</a:t>
            </a:r>
          </a:p>
          <a:p>
            <a:pPr algn="ctr"/>
            <a:r>
              <a:rPr lang="en-US" dirty="0">
                <a:solidFill>
                  <a:schemeClr val="bg2"/>
                </a:solidFill>
                <a:latin typeface="IBM Plex Sans" panose="020B0503050203000203" pitchFamily="34" charset="0"/>
              </a:rPr>
              <a:t>#</a:t>
            </a:r>
            <a:r>
              <a:rPr lang="en-US" b="0" i="0" dirty="0">
                <a:solidFill>
                  <a:srgbClr val="FFFFFF"/>
                </a:solidFill>
                <a:effectLst/>
                <a:latin typeface="IBM Plex Mono" panose="020B0509050203000203" pitchFamily="49" charset="0"/>
              </a:rPr>
              <a:t>000000</a:t>
            </a:r>
            <a:endParaRPr lang="en-US" dirty="0">
              <a:solidFill>
                <a:schemeClr val="bg2"/>
              </a:solidFill>
              <a:latin typeface="IBM Plex Sans" panose="020B0503050203000203" pitchFamily="34" charset="0"/>
            </a:endParaRPr>
          </a:p>
        </p:txBody>
      </p:sp>
      <p:sp>
        <p:nvSpPr>
          <p:cNvPr id="25" name="Rectangle 24">
            <a:extLst>
              <a:ext uri="{FF2B5EF4-FFF2-40B4-BE49-F238E27FC236}">
                <a16:creationId xmlns:a16="http://schemas.microsoft.com/office/drawing/2014/main" id="{FACF072D-B1FC-4829-B71E-556F57965D46}"/>
              </a:ext>
            </a:extLst>
          </p:cNvPr>
          <p:cNvSpPr/>
          <p:nvPr userDrawn="1"/>
        </p:nvSpPr>
        <p:spPr>
          <a:xfrm>
            <a:off x="19510690" y="4403963"/>
            <a:ext cx="1264019" cy="1264018"/>
          </a:xfrm>
          <a:prstGeom prst="rect">
            <a:avLst/>
          </a:prstGeom>
          <a:solidFill>
            <a:srgbClr val="FFFF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rgbClr val="262626"/>
                </a:solidFill>
                <a:latin typeface="IBM Plex Sans" panose="020B0503050203000203" pitchFamily="34" charset="0"/>
              </a:rPr>
              <a:t>Icon</a:t>
            </a:r>
          </a:p>
          <a:p>
            <a:pPr algn="ctr"/>
            <a:r>
              <a:rPr lang="en-US" dirty="0">
                <a:solidFill>
                  <a:srgbClr val="262626"/>
                </a:solidFill>
                <a:latin typeface="IBM Plex Sans" panose="020B0503050203000203" pitchFamily="34" charset="0"/>
              </a:rPr>
              <a:t>#</a:t>
            </a:r>
            <a:r>
              <a:rPr lang="en-US" b="0" i="0" dirty="0">
                <a:solidFill>
                  <a:srgbClr val="262626"/>
                </a:solidFill>
                <a:effectLst/>
                <a:latin typeface="IBM Plex Mono" panose="020B0509050203000203" pitchFamily="49" charset="0"/>
              </a:rPr>
              <a:t>FFFFFF</a:t>
            </a:r>
            <a:endParaRPr lang="en-US" dirty="0">
              <a:solidFill>
                <a:srgbClr val="262626"/>
              </a:solidFill>
              <a:latin typeface="IBM Plex Sans" panose="020B0503050203000203" pitchFamily="34" charset="0"/>
            </a:endParaRPr>
          </a:p>
        </p:txBody>
      </p:sp>
      <p:sp>
        <p:nvSpPr>
          <p:cNvPr id="26" name="Rectangle 25">
            <a:extLst>
              <a:ext uri="{FF2B5EF4-FFF2-40B4-BE49-F238E27FC236}">
                <a16:creationId xmlns:a16="http://schemas.microsoft.com/office/drawing/2014/main" id="{398BBA60-CCFF-F95A-ECC9-46204EA2214B}"/>
              </a:ext>
            </a:extLst>
          </p:cNvPr>
          <p:cNvSpPr/>
          <p:nvPr userDrawn="1"/>
        </p:nvSpPr>
        <p:spPr>
          <a:xfrm>
            <a:off x="12625444" y="1072749"/>
            <a:ext cx="1235879" cy="1235878"/>
          </a:xfrm>
          <a:prstGeom prst="rect">
            <a:avLst/>
          </a:prstGeom>
          <a:solidFill>
            <a:srgbClr val="F6F2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#F6F2FF</a:t>
            </a:r>
          </a:p>
        </p:txBody>
      </p:sp>
      <p:sp>
        <p:nvSpPr>
          <p:cNvPr id="27" name="Rectangle 26">
            <a:extLst>
              <a:ext uri="{FF2B5EF4-FFF2-40B4-BE49-F238E27FC236}">
                <a16:creationId xmlns:a16="http://schemas.microsoft.com/office/drawing/2014/main" id="{63F05CFF-A449-FBB3-5F13-F7A72C2E43DE}"/>
              </a:ext>
            </a:extLst>
          </p:cNvPr>
          <p:cNvSpPr/>
          <p:nvPr userDrawn="1"/>
        </p:nvSpPr>
        <p:spPr>
          <a:xfrm>
            <a:off x="18071881" y="1072749"/>
            <a:ext cx="1235879" cy="1235878"/>
          </a:xfrm>
          <a:prstGeom prst="rect">
            <a:avLst/>
          </a:prstGeom>
          <a:solidFill>
            <a:srgbClr val="E5F6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#E5F6FF</a:t>
            </a:r>
          </a:p>
        </p:txBody>
      </p:sp>
      <p:sp>
        <p:nvSpPr>
          <p:cNvPr id="28" name="Rectangle 27">
            <a:extLst>
              <a:ext uri="{FF2B5EF4-FFF2-40B4-BE49-F238E27FC236}">
                <a16:creationId xmlns:a16="http://schemas.microsoft.com/office/drawing/2014/main" id="{A4895BC4-B52A-2D00-62C1-71A44604BBB4}"/>
              </a:ext>
            </a:extLst>
          </p:cNvPr>
          <p:cNvSpPr/>
          <p:nvPr userDrawn="1"/>
        </p:nvSpPr>
        <p:spPr>
          <a:xfrm>
            <a:off x="14440923" y="1072749"/>
            <a:ext cx="1235879" cy="1235878"/>
          </a:xfrm>
          <a:prstGeom prst="rect">
            <a:avLst/>
          </a:prstGeom>
          <a:solidFill>
            <a:srgbClr val="FFF0F7"/>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#FFF0F7</a:t>
            </a:r>
          </a:p>
        </p:txBody>
      </p:sp>
      <p:sp>
        <p:nvSpPr>
          <p:cNvPr id="29" name="Rectangle 28">
            <a:extLst>
              <a:ext uri="{FF2B5EF4-FFF2-40B4-BE49-F238E27FC236}">
                <a16:creationId xmlns:a16="http://schemas.microsoft.com/office/drawing/2014/main" id="{F5B5B6C5-97CB-45FD-FDEC-1F5C2A0BDC3E}"/>
              </a:ext>
            </a:extLst>
          </p:cNvPr>
          <p:cNvSpPr/>
          <p:nvPr userDrawn="1"/>
        </p:nvSpPr>
        <p:spPr>
          <a:xfrm>
            <a:off x="16256402" y="1072749"/>
            <a:ext cx="1235879" cy="1235878"/>
          </a:xfrm>
          <a:prstGeom prst="rect">
            <a:avLst/>
          </a:prstGeom>
          <a:solidFill>
            <a:srgbClr val="D9FBFB"/>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262626"/>
                </a:solidFill>
                <a:latin typeface="IBM Plex Sans" panose="020B0503050203000203" pitchFamily="34" charset="0"/>
              </a:rPr>
              <a:t>#D9FBFB</a:t>
            </a:r>
          </a:p>
        </p:txBody>
      </p:sp>
      <p:sp>
        <p:nvSpPr>
          <p:cNvPr id="30" name="TextBox 29">
            <a:extLst>
              <a:ext uri="{FF2B5EF4-FFF2-40B4-BE49-F238E27FC236}">
                <a16:creationId xmlns:a16="http://schemas.microsoft.com/office/drawing/2014/main" id="{94DCC439-D448-E0FC-26EF-94C7A8B8D0DB}"/>
              </a:ext>
            </a:extLst>
          </p:cNvPr>
          <p:cNvSpPr txBox="1"/>
          <p:nvPr userDrawn="1"/>
        </p:nvSpPr>
        <p:spPr>
          <a:xfrm>
            <a:off x="12602453" y="2256868"/>
            <a:ext cx="1237839" cy="369332"/>
          </a:xfrm>
          <a:prstGeom prst="rect">
            <a:avLst/>
          </a:prstGeom>
          <a:noFill/>
        </p:spPr>
        <p:txBody>
          <a:bodyPr wrap="none" rtlCol="0">
            <a:spAutoFit/>
          </a:bodyPr>
          <a:lstStyle/>
          <a:p>
            <a:r>
              <a:rPr lang="en-US" b="1" i="0" dirty="0">
                <a:solidFill>
                  <a:srgbClr val="FFFFFF"/>
                </a:solidFill>
                <a:effectLst/>
              </a:rPr>
              <a:t>Purple 10</a:t>
            </a:r>
            <a:endParaRPr lang="en-US" b="1" dirty="0">
              <a:solidFill>
                <a:srgbClr val="FFFFFF"/>
              </a:solidFill>
            </a:endParaRPr>
          </a:p>
        </p:txBody>
      </p:sp>
      <p:sp>
        <p:nvSpPr>
          <p:cNvPr id="31" name="TextBox 30">
            <a:extLst>
              <a:ext uri="{FF2B5EF4-FFF2-40B4-BE49-F238E27FC236}">
                <a16:creationId xmlns:a16="http://schemas.microsoft.com/office/drawing/2014/main" id="{004B7B48-2E66-50BA-96FE-D24C4E60BFD7}"/>
              </a:ext>
            </a:extLst>
          </p:cNvPr>
          <p:cNvSpPr txBox="1"/>
          <p:nvPr userDrawn="1"/>
        </p:nvSpPr>
        <p:spPr>
          <a:xfrm>
            <a:off x="14334144" y="2256868"/>
            <a:ext cx="1449436" cy="369332"/>
          </a:xfrm>
          <a:prstGeom prst="rect">
            <a:avLst/>
          </a:prstGeom>
          <a:noFill/>
        </p:spPr>
        <p:txBody>
          <a:bodyPr wrap="none" rtlCol="0">
            <a:spAutoFit/>
          </a:bodyPr>
          <a:lstStyle/>
          <a:p>
            <a:r>
              <a:rPr lang="en-US" b="1" dirty="0">
                <a:solidFill>
                  <a:srgbClr val="FFFFFF"/>
                </a:solidFill>
              </a:rPr>
              <a:t>Magenta</a:t>
            </a:r>
            <a:r>
              <a:rPr lang="en-US" b="1" i="0" dirty="0">
                <a:solidFill>
                  <a:srgbClr val="FFFFFF"/>
                </a:solidFill>
                <a:effectLst/>
              </a:rPr>
              <a:t> 10</a:t>
            </a:r>
            <a:endParaRPr lang="en-US" b="1" dirty="0">
              <a:solidFill>
                <a:srgbClr val="FFFFFF"/>
              </a:solidFill>
            </a:endParaRPr>
          </a:p>
        </p:txBody>
      </p:sp>
      <p:sp>
        <p:nvSpPr>
          <p:cNvPr id="32" name="TextBox 31">
            <a:extLst>
              <a:ext uri="{FF2B5EF4-FFF2-40B4-BE49-F238E27FC236}">
                <a16:creationId xmlns:a16="http://schemas.microsoft.com/office/drawing/2014/main" id="{07C767BF-EB72-86A2-DBA6-0D26C6C02894}"/>
              </a:ext>
            </a:extLst>
          </p:cNvPr>
          <p:cNvSpPr txBox="1"/>
          <p:nvPr userDrawn="1"/>
        </p:nvSpPr>
        <p:spPr>
          <a:xfrm>
            <a:off x="16404771" y="2256868"/>
            <a:ext cx="966355" cy="369332"/>
          </a:xfrm>
          <a:prstGeom prst="rect">
            <a:avLst/>
          </a:prstGeom>
          <a:noFill/>
        </p:spPr>
        <p:txBody>
          <a:bodyPr wrap="none" rtlCol="0">
            <a:spAutoFit/>
          </a:bodyPr>
          <a:lstStyle/>
          <a:p>
            <a:r>
              <a:rPr lang="en-US" b="1" dirty="0">
                <a:solidFill>
                  <a:srgbClr val="FFFFFF"/>
                </a:solidFill>
              </a:rPr>
              <a:t>Teal</a:t>
            </a:r>
            <a:r>
              <a:rPr lang="en-US" b="1" i="0" dirty="0">
                <a:solidFill>
                  <a:srgbClr val="FFFFFF"/>
                </a:solidFill>
                <a:effectLst/>
              </a:rPr>
              <a:t> 10</a:t>
            </a:r>
            <a:endParaRPr lang="en-US" b="1" dirty="0">
              <a:solidFill>
                <a:srgbClr val="FFFFFF"/>
              </a:solidFill>
            </a:endParaRPr>
          </a:p>
        </p:txBody>
      </p:sp>
      <p:sp>
        <p:nvSpPr>
          <p:cNvPr id="33" name="TextBox 32">
            <a:extLst>
              <a:ext uri="{FF2B5EF4-FFF2-40B4-BE49-F238E27FC236}">
                <a16:creationId xmlns:a16="http://schemas.microsoft.com/office/drawing/2014/main" id="{BFEDF829-6CB0-F03B-E025-85D510B4DC26}"/>
              </a:ext>
            </a:extLst>
          </p:cNvPr>
          <p:cNvSpPr txBox="1"/>
          <p:nvPr userDrawn="1"/>
        </p:nvSpPr>
        <p:spPr>
          <a:xfrm>
            <a:off x="18206642" y="2256868"/>
            <a:ext cx="1055097" cy="369332"/>
          </a:xfrm>
          <a:prstGeom prst="rect">
            <a:avLst/>
          </a:prstGeom>
          <a:noFill/>
        </p:spPr>
        <p:txBody>
          <a:bodyPr wrap="none" rtlCol="0">
            <a:spAutoFit/>
          </a:bodyPr>
          <a:lstStyle/>
          <a:p>
            <a:r>
              <a:rPr lang="en-US" b="1" dirty="0">
                <a:solidFill>
                  <a:srgbClr val="FFFFFF"/>
                </a:solidFill>
              </a:rPr>
              <a:t>Cyan</a:t>
            </a:r>
            <a:r>
              <a:rPr lang="en-US" b="1" i="0" dirty="0">
                <a:solidFill>
                  <a:srgbClr val="FFFFFF"/>
                </a:solidFill>
                <a:effectLst/>
              </a:rPr>
              <a:t> 10</a:t>
            </a:r>
            <a:endParaRPr lang="en-US" b="1" dirty="0">
              <a:solidFill>
                <a:srgbClr val="FFFFFF"/>
              </a:solidFill>
            </a:endParaRPr>
          </a:p>
        </p:txBody>
      </p:sp>
      <p:sp>
        <p:nvSpPr>
          <p:cNvPr id="34" name="Rectangle 33">
            <a:extLst>
              <a:ext uri="{FF2B5EF4-FFF2-40B4-BE49-F238E27FC236}">
                <a16:creationId xmlns:a16="http://schemas.microsoft.com/office/drawing/2014/main" id="{7FF97BF5-A64D-02F2-4B04-BC95CE39DF3F}"/>
              </a:ext>
            </a:extLst>
          </p:cNvPr>
          <p:cNvSpPr/>
          <p:nvPr userDrawn="1"/>
        </p:nvSpPr>
        <p:spPr>
          <a:xfrm>
            <a:off x="16222135" y="-2341897"/>
            <a:ext cx="1267863" cy="1267862"/>
          </a:xfrm>
          <a:prstGeom prst="rect">
            <a:avLst/>
          </a:prstGeom>
          <a:solidFill>
            <a:srgbClr val="C1C7CD"/>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#C1C7CD</a:t>
            </a:r>
          </a:p>
        </p:txBody>
      </p:sp>
      <p:sp>
        <p:nvSpPr>
          <p:cNvPr id="37" name="Rectangle 36">
            <a:extLst>
              <a:ext uri="{FF2B5EF4-FFF2-40B4-BE49-F238E27FC236}">
                <a16:creationId xmlns:a16="http://schemas.microsoft.com/office/drawing/2014/main" id="{63738F9B-27C5-3C49-8FD7-0731EE9AC3BF}"/>
              </a:ext>
            </a:extLst>
          </p:cNvPr>
          <p:cNvSpPr/>
          <p:nvPr userDrawn="1"/>
        </p:nvSpPr>
        <p:spPr>
          <a:xfrm>
            <a:off x="16222135" y="-801901"/>
            <a:ext cx="1267863" cy="1267862"/>
          </a:xfrm>
          <a:prstGeom prst="rect">
            <a:avLst/>
          </a:prstGeom>
          <a:solidFill>
            <a:srgbClr val="F2F4F8"/>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#F2F4F8</a:t>
            </a:r>
          </a:p>
        </p:txBody>
      </p:sp>
      <p:sp>
        <p:nvSpPr>
          <p:cNvPr id="38" name="Rectangle 37">
            <a:extLst>
              <a:ext uri="{FF2B5EF4-FFF2-40B4-BE49-F238E27FC236}">
                <a16:creationId xmlns:a16="http://schemas.microsoft.com/office/drawing/2014/main" id="{A7194F16-D83C-3057-9151-A884EA8F0931}"/>
              </a:ext>
            </a:extLst>
          </p:cNvPr>
          <p:cNvSpPr/>
          <p:nvPr userDrawn="1"/>
        </p:nvSpPr>
        <p:spPr>
          <a:xfrm>
            <a:off x="14397282" y="-2352139"/>
            <a:ext cx="1267863" cy="1267862"/>
          </a:xfrm>
          <a:prstGeom prst="rect">
            <a:avLst/>
          </a:prstGeom>
          <a:solidFill>
            <a:srgbClr val="BE95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#BE95FF</a:t>
            </a:r>
          </a:p>
        </p:txBody>
      </p:sp>
      <p:sp>
        <p:nvSpPr>
          <p:cNvPr id="39" name="Rectangle 38">
            <a:extLst>
              <a:ext uri="{FF2B5EF4-FFF2-40B4-BE49-F238E27FC236}">
                <a16:creationId xmlns:a16="http://schemas.microsoft.com/office/drawing/2014/main" id="{80C7A661-0FF9-B849-2771-84AA24CF5EFF}"/>
              </a:ext>
            </a:extLst>
          </p:cNvPr>
          <p:cNvSpPr/>
          <p:nvPr userDrawn="1"/>
        </p:nvSpPr>
        <p:spPr>
          <a:xfrm>
            <a:off x="14397282" y="-812143"/>
            <a:ext cx="1267863" cy="1267862"/>
          </a:xfrm>
          <a:prstGeom prst="rect">
            <a:avLst/>
          </a:prstGeom>
          <a:solidFill>
            <a:srgbClr val="33B1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#33B1FF</a:t>
            </a:r>
          </a:p>
        </p:txBody>
      </p:sp>
      <p:sp>
        <p:nvSpPr>
          <p:cNvPr id="42" name="Rectangle 41">
            <a:extLst>
              <a:ext uri="{FF2B5EF4-FFF2-40B4-BE49-F238E27FC236}">
                <a16:creationId xmlns:a16="http://schemas.microsoft.com/office/drawing/2014/main" id="{784675A9-3F9A-460D-D8D6-C5D9516859D4}"/>
              </a:ext>
            </a:extLst>
          </p:cNvPr>
          <p:cNvSpPr/>
          <p:nvPr userDrawn="1"/>
        </p:nvSpPr>
        <p:spPr>
          <a:xfrm>
            <a:off x="12572429" y="-2309174"/>
            <a:ext cx="1267863" cy="1267862"/>
          </a:xfrm>
          <a:prstGeom prst="rect">
            <a:avLst/>
          </a:prstGeom>
          <a:solidFill>
            <a:srgbClr val="08BDBA"/>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#08BDBA</a:t>
            </a:r>
          </a:p>
        </p:txBody>
      </p:sp>
      <p:sp>
        <p:nvSpPr>
          <p:cNvPr id="43" name="Rectangle 42">
            <a:extLst>
              <a:ext uri="{FF2B5EF4-FFF2-40B4-BE49-F238E27FC236}">
                <a16:creationId xmlns:a16="http://schemas.microsoft.com/office/drawing/2014/main" id="{FD8C7787-7D0E-ED5D-DB99-53C4B52AA8F2}"/>
              </a:ext>
            </a:extLst>
          </p:cNvPr>
          <p:cNvSpPr/>
          <p:nvPr userDrawn="1"/>
        </p:nvSpPr>
        <p:spPr>
          <a:xfrm>
            <a:off x="12572429" y="-769178"/>
            <a:ext cx="1267863" cy="1267862"/>
          </a:xfrm>
          <a:prstGeom prst="rect">
            <a:avLst/>
          </a:prstGeom>
          <a:solidFill>
            <a:srgbClr val="78A9FF"/>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IBM Plex Sans" panose="020B0503050203000203" pitchFamily="34" charset="0"/>
              </a:rPr>
              <a:t>Text BG</a:t>
            </a:r>
          </a:p>
          <a:p>
            <a:pPr algn="ctr"/>
            <a:r>
              <a:rPr lang="en-US" dirty="0">
                <a:solidFill>
                  <a:schemeClr val="tx1"/>
                </a:solidFill>
                <a:latin typeface="IBM Plex Sans" panose="020B0503050203000203" pitchFamily="34" charset="0"/>
              </a:rPr>
              <a:t>#78A9FF</a:t>
            </a:r>
          </a:p>
        </p:txBody>
      </p:sp>
      <p:sp>
        <p:nvSpPr>
          <p:cNvPr id="46" name="Rectangle 45">
            <a:extLst>
              <a:ext uri="{FF2B5EF4-FFF2-40B4-BE49-F238E27FC236}">
                <a16:creationId xmlns:a16="http://schemas.microsoft.com/office/drawing/2014/main" id="{20CCBF62-5F94-E366-51BD-6C8DCBF90955}"/>
              </a:ext>
            </a:extLst>
          </p:cNvPr>
          <p:cNvSpPr/>
          <p:nvPr userDrawn="1"/>
        </p:nvSpPr>
        <p:spPr>
          <a:xfrm>
            <a:off x="17993876" y="-2309174"/>
            <a:ext cx="1267863" cy="1267862"/>
          </a:xfrm>
          <a:prstGeom prst="rect">
            <a:avLst/>
          </a:prstGeom>
          <a:solidFill>
            <a:srgbClr val="52525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Labels</a:t>
            </a:r>
          </a:p>
          <a:p>
            <a:pPr algn="ctr"/>
            <a:r>
              <a:rPr lang="en-US" dirty="0">
                <a:solidFill>
                  <a:schemeClr val="bg2"/>
                </a:solidFill>
                <a:latin typeface="IBM Plex Sans" panose="020B0503050203000203" pitchFamily="34" charset="0"/>
              </a:rPr>
              <a:t>#525252</a:t>
            </a:r>
          </a:p>
        </p:txBody>
      </p:sp>
      <p:sp>
        <p:nvSpPr>
          <p:cNvPr id="47" name="Rectangle 46">
            <a:extLst>
              <a:ext uri="{FF2B5EF4-FFF2-40B4-BE49-F238E27FC236}">
                <a16:creationId xmlns:a16="http://schemas.microsoft.com/office/drawing/2014/main" id="{E5880850-0EBA-AD14-E6FD-BB1DC94F3DA5}"/>
              </a:ext>
            </a:extLst>
          </p:cNvPr>
          <p:cNvSpPr/>
          <p:nvPr userDrawn="1"/>
        </p:nvSpPr>
        <p:spPr>
          <a:xfrm>
            <a:off x="17993875" y="-812143"/>
            <a:ext cx="1267863" cy="1267862"/>
          </a:xfrm>
          <a:prstGeom prst="rect">
            <a:avLst/>
          </a:prstGeom>
          <a:solidFill>
            <a:srgbClr val="262626"/>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bg2"/>
                </a:solidFill>
                <a:latin typeface="IBM Plex Sans" panose="020B0503050203000203" pitchFamily="34" charset="0"/>
              </a:rPr>
              <a:t>Text</a:t>
            </a:r>
          </a:p>
          <a:p>
            <a:pPr algn="ctr"/>
            <a:r>
              <a:rPr lang="en-US" dirty="0">
                <a:solidFill>
                  <a:schemeClr val="bg2"/>
                </a:solidFill>
                <a:latin typeface="IBM Plex Sans" panose="020B0503050203000203" pitchFamily="34" charset="0"/>
              </a:rPr>
              <a:t>#262626</a:t>
            </a:r>
          </a:p>
        </p:txBody>
      </p:sp>
      <p:grpSp>
        <p:nvGrpSpPr>
          <p:cNvPr id="64" name="Group 63">
            <a:extLst>
              <a:ext uri="{FF2B5EF4-FFF2-40B4-BE49-F238E27FC236}">
                <a16:creationId xmlns:a16="http://schemas.microsoft.com/office/drawing/2014/main" id="{56209ACE-A4F7-EAC9-E98F-D141BE77F994}"/>
              </a:ext>
            </a:extLst>
          </p:cNvPr>
          <p:cNvGrpSpPr/>
          <p:nvPr userDrawn="1"/>
        </p:nvGrpSpPr>
        <p:grpSpPr>
          <a:xfrm>
            <a:off x="11094856" y="6244940"/>
            <a:ext cx="1098532" cy="613059"/>
            <a:chOff x="8965342" y="4231217"/>
            <a:chExt cx="1608171" cy="897474"/>
          </a:xfrm>
        </p:grpSpPr>
        <p:pic>
          <p:nvPicPr>
            <p:cNvPr id="60" name="Graphic 59">
              <a:extLst>
                <a:ext uri="{FF2B5EF4-FFF2-40B4-BE49-F238E27FC236}">
                  <a16:creationId xmlns:a16="http://schemas.microsoft.com/office/drawing/2014/main" id="{EFEE4105-67FB-F40B-E7BD-8C9B80C32F89}"/>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9321121" y="4418033"/>
              <a:ext cx="897474" cy="355817"/>
            </a:xfrm>
            <a:prstGeom prst="rect">
              <a:avLst/>
            </a:prstGeom>
          </p:spPr>
        </p:pic>
        <p:pic>
          <p:nvPicPr>
            <p:cNvPr id="61" name="Graphic 60" hidden="1">
              <a:extLst>
                <a:ext uri="{FF2B5EF4-FFF2-40B4-BE49-F238E27FC236}">
                  <a16:creationId xmlns:a16="http://schemas.microsoft.com/office/drawing/2014/main" id="{9AB2407C-B3E2-DCDD-0692-DD32E3C45227}"/>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9321121" y="4772874"/>
              <a:ext cx="897474" cy="355817"/>
            </a:xfrm>
            <a:prstGeom prst="rect">
              <a:avLst/>
            </a:prstGeom>
          </p:spPr>
        </p:pic>
        <p:pic>
          <p:nvPicPr>
            <p:cNvPr id="62" name="Graphic 61" hidden="1">
              <a:extLst>
                <a:ext uri="{FF2B5EF4-FFF2-40B4-BE49-F238E27FC236}">
                  <a16:creationId xmlns:a16="http://schemas.microsoft.com/office/drawing/2014/main" id="{9128FFA9-E729-6051-FE44-5C57854D2B9B}"/>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9946868" y="4502045"/>
              <a:ext cx="897474" cy="355817"/>
            </a:xfrm>
            <a:prstGeom prst="rect">
              <a:avLst/>
            </a:prstGeom>
          </p:spPr>
        </p:pic>
        <p:pic>
          <p:nvPicPr>
            <p:cNvPr id="63" name="Graphic 62" hidden="1">
              <a:extLst>
                <a:ext uri="{FF2B5EF4-FFF2-40B4-BE49-F238E27FC236}">
                  <a16:creationId xmlns:a16="http://schemas.microsoft.com/office/drawing/2014/main" id="{21D1BE07-55D7-FEB6-D90F-FC214DFBDA4C}"/>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8694514" y="4502045"/>
              <a:ext cx="897474" cy="355817"/>
            </a:xfrm>
            <a:prstGeom prst="rect">
              <a:avLst/>
            </a:prstGeom>
          </p:spPr>
        </p:pic>
      </p:grpSp>
      <p:pic>
        <p:nvPicPr>
          <p:cNvPr id="66" name="Graphic 65">
            <a:extLst>
              <a:ext uri="{FF2B5EF4-FFF2-40B4-BE49-F238E27FC236}">
                <a16:creationId xmlns:a16="http://schemas.microsoft.com/office/drawing/2014/main" id="{FD0E63E5-36ED-0A5F-F2A0-E31AD11555EA}"/>
              </a:ext>
            </a:extLst>
          </p:cNvPr>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241053" y="6372101"/>
            <a:ext cx="1630680" cy="247650"/>
          </a:xfrm>
          <a:prstGeom prst="rect">
            <a:avLst/>
          </a:prstGeom>
        </p:spPr>
      </p:pic>
      <p:sp>
        <p:nvSpPr>
          <p:cNvPr id="67" name="Rectangle 66" hidden="1">
            <a:extLst>
              <a:ext uri="{FF2B5EF4-FFF2-40B4-BE49-F238E27FC236}">
                <a16:creationId xmlns:a16="http://schemas.microsoft.com/office/drawing/2014/main" id="{04EE5960-43EB-4B14-0782-2876BE85A607}"/>
              </a:ext>
            </a:extLst>
          </p:cNvPr>
          <p:cNvSpPr/>
          <p:nvPr userDrawn="1"/>
        </p:nvSpPr>
        <p:spPr>
          <a:xfrm>
            <a:off x="-76201" y="6356350"/>
            <a:ext cx="12353925" cy="276797"/>
          </a:xfrm>
          <a:prstGeom prst="rect">
            <a:avLst/>
          </a:prstGeom>
          <a:noFill/>
          <a:ln w="28575">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8"/>
    </p:custDataLst>
    <p:extLst>
      <p:ext uri="{BB962C8B-B14F-4D97-AF65-F5344CB8AC3E}">
        <p14:creationId xmlns:p14="http://schemas.microsoft.com/office/powerpoint/2010/main" val="12704429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 id="2147483673" r:id="rId6"/>
  </p:sldLayoutIdLst>
  <p:txStyles>
    <p:title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8.xml"/><Relationship Id="rId3" Type="http://schemas.openxmlformats.org/officeDocument/2006/relationships/image" Target="../media/image9.png"/><Relationship Id="rId7" Type="http://schemas.openxmlformats.org/officeDocument/2006/relationships/customXml" Target="../ink/ink3.xml"/><Relationship Id="rId12" Type="http://schemas.openxmlformats.org/officeDocument/2006/relationships/customXml" Target="../ink/ink7.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customXml" Target="../ink/ink2.xml"/><Relationship Id="rId11" Type="http://schemas.openxmlformats.org/officeDocument/2006/relationships/customXml" Target="../ink/ink6.xml"/><Relationship Id="rId5" Type="http://schemas.openxmlformats.org/officeDocument/2006/relationships/image" Target="../media/image10.png"/><Relationship Id="rId10" Type="http://schemas.openxmlformats.org/officeDocument/2006/relationships/customXml" Target="../ink/ink5.xml"/><Relationship Id="rId4" Type="http://schemas.openxmlformats.org/officeDocument/2006/relationships/customXml" Target="../ink/ink1.xml"/><Relationship Id="rId9" Type="http://schemas.openxmlformats.org/officeDocument/2006/relationships/image" Target="../media/image11.png"/><Relationship Id="rId14" Type="http://schemas.openxmlformats.org/officeDocument/2006/relationships/customXml" Target="../ink/ink9.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3.xml"/><Relationship Id="rId1" Type="http://schemas.openxmlformats.org/officeDocument/2006/relationships/tags" Target="../tags/tag1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3.xml"/><Relationship Id="rId1" Type="http://schemas.openxmlformats.org/officeDocument/2006/relationships/tags" Target="../tags/tag14.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mohanccse/Capstone_Project_Repo/blob/57c10c1f41e00f138155553ee3a4be5627248024/Current_Technology_Usage.pdf" TargetMode="External"/><Relationship Id="rId2" Type="http://schemas.openxmlformats.org/officeDocument/2006/relationships/slideLayout" Target="../slideLayouts/slideLayout3.xml"/><Relationship Id="rId1" Type="http://schemas.openxmlformats.org/officeDocument/2006/relationships/tags" Target="../tags/tag16.xml"/><Relationship Id="rId6" Type="http://schemas.openxmlformats.org/officeDocument/2006/relationships/image" Target="../media/image19.png"/><Relationship Id="rId5" Type="http://schemas.openxmlformats.org/officeDocument/2006/relationships/hyperlink" Target="https://github.com/mohanccse/Capstone_Project_Repo/blob/57c10c1f41e00f138155553ee3a4be5627248024/Demographics.pdf" TargetMode="External"/><Relationship Id="rId4" Type="http://schemas.openxmlformats.org/officeDocument/2006/relationships/hyperlink" Target="https://github.com/mohanccse/Capstone_Project_Repo/blob/57c10c1f41e00f138155553ee3a4be5627248024/Future_Technology_Trends.pdf"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3.xml"/><Relationship Id="rId1" Type="http://schemas.openxmlformats.org/officeDocument/2006/relationships/tags" Target="../tags/tag17.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3.xml"/><Relationship Id="rId1" Type="http://schemas.openxmlformats.org/officeDocument/2006/relationships/tags" Target="../tags/tag18.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3.xml"/><Relationship Id="rId1" Type="http://schemas.openxmlformats.org/officeDocument/2006/relationships/tags" Target="../tags/tag19.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Layout" Target="../slideLayouts/slideLayout3.xml"/><Relationship Id="rId1" Type="http://schemas.openxmlformats.org/officeDocument/2006/relationships/tags" Target="../tags/tag20.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1.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3.xml"/><Relationship Id="rId1" Type="http://schemas.openxmlformats.org/officeDocument/2006/relationships/tags" Target="../tags/tag23.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3.xml"/><Relationship Id="rId1" Type="http://schemas.openxmlformats.org/officeDocument/2006/relationships/tags" Target="../tags/tag24.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3.xml"/><Relationship Id="rId1" Type="http://schemas.openxmlformats.org/officeDocument/2006/relationships/tags" Target="../tags/tag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5631-0297-E86E-7069-C969B141FD7D}"/>
              </a:ext>
            </a:extLst>
          </p:cNvPr>
          <p:cNvSpPr>
            <a:spLocks noGrp="1"/>
          </p:cNvSpPr>
          <p:nvPr>
            <p:ph type="ctrTitle"/>
          </p:nvPr>
        </p:nvSpPr>
        <p:spPr>
          <a:xfrm>
            <a:off x="17720" y="1112372"/>
            <a:ext cx="9922107" cy="2443629"/>
          </a:xfrm>
          <a:noFill/>
        </p:spPr>
        <p:txBody>
          <a:bodyPr>
            <a:normAutofit/>
          </a:bodyPr>
          <a:lstStyle/>
          <a:p>
            <a:pPr algn="l"/>
            <a:r>
              <a:rPr lang="en-US" sz="4000" b="1" dirty="0">
                <a:latin typeface="IBM Plex Sans SemiBold"/>
              </a:rPr>
              <a:t>Analysis of Global Developer </a:t>
            </a:r>
            <a:br>
              <a:rPr lang="en-US" sz="4000" b="1" dirty="0">
                <a:latin typeface="IBM Plex Sans SemiBold"/>
              </a:rPr>
            </a:br>
            <a:r>
              <a:rPr lang="en-US" sz="4000" b="1" dirty="0">
                <a:latin typeface="IBM Plex Sans SemiBold"/>
              </a:rPr>
              <a:t>Technology Trends (2025)</a:t>
            </a:r>
            <a:br>
              <a:rPr lang="en-US" sz="3600" dirty="0">
                <a:latin typeface="IBM Plex Sans SemiBold"/>
              </a:rPr>
            </a:br>
            <a:endParaRPr lang="en-US" sz="3600"/>
          </a:p>
        </p:txBody>
      </p:sp>
      <p:sp>
        <p:nvSpPr>
          <p:cNvPr id="3" name="Subtitle 2">
            <a:extLst>
              <a:ext uri="{FF2B5EF4-FFF2-40B4-BE49-F238E27FC236}">
                <a16:creationId xmlns:a16="http://schemas.microsoft.com/office/drawing/2014/main" id="{59DF6B8D-2BAC-11F8-7D28-B631D08C8D90}"/>
              </a:ext>
            </a:extLst>
          </p:cNvPr>
          <p:cNvSpPr>
            <a:spLocks noGrp="1"/>
          </p:cNvSpPr>
          <p:nvPr>
            <p:ph type="subTitle" idx="1"/>
          </p:nvPr>
        </p:nvSpPr>
        <p:spPr>
          <a:xfrm>
            <a:off x="136502" y="3708836"/>
            <a:ext cx="8888925" cy="1678173"/>
          </a:xfrm>
          <a:noFill/>
        </p:spPr>
        <p:txBody>
          <a:bodyPr vert="horz" lIns="91440" tIns="45720" rIns="91440" bIns="45720" rtlCol="0" anchor="ctr">
            <a:normAutofit/>
          </a:bodyPr>
          <a:lstStyle/>
          <a:p>
            <a:pPr algn="l"/>
            <a:r>
              <a:rPr lang="en-US" sz="2800" b="1" dirty="0">
                <a:latin typeface="Arial"/>
                <a:cs typeface="Arial"/>
              </a:rPr>
              <a:t>MohanaKrishnan C</a:t>
            </a:r>
            <a:br>
              <a:rPr lang="en-US" b="1" i="1" dirty="0">
                <a:latin typeface="Arial"/>
              </a:rPr>
            </a:br>
            <a:br>
              <a:rPr lang="en-US" b="1" i="1" dirty="0">
                <a:latin typeface="Arial"/>
              </a:rPr>
            </a:br>
            <a:r>
              <a:rPr lang="en-US" dirty="0">
                <a:latin typeface="IBM Plex Sans"/>
                <a:cs typeface="Arial"/>
              </a:rPr>
              <a:t>November 2025</a:t>
            </a:r>
            <a:endParaRPr lang="en-US" sz="2000" dirty="0"/>
          </a:p>
          <a:p>
            <a:endParaRPr lang="en-US" dirty="0"/>
          </a:p>
        </p:txBody>
      </p:sp>
      <p:pic>
        <p:nvPicPr>
          <p:cNvPr id="4" name="Picture 3">
            <a:extLst>
              <a:ext uri="{FF2B5EF4-FFF2-40B4-BE49-F238E27FC236}">
                <a16:creationId xmlns:a16="http://schemas.microsoft.com/office/drawing/2014/main" id="{77323E2C-8982-861D-BE1D-3E30E5CC437C}"/>
              </a:ext>
            </a:extLst>
          </p:cNvPr>
          <p:cNvPicPr>
            <a:picLocks noChangeAspect="1"/>
          </p:cNvPicPr>
          <p:nvPr/>
        </p:nvPicPr>
        <p:blipFill>
          <a:blip r:embed="rId3"/>
          <a:stretch>
            <a:fillRect/>
          </a:stretch>
        </p:blipFill>
        <p:spPr>
          <a:xfrm>
            <a:off x="7207131" y="869203"/>
            <a:ext cx="4839684" cy="4351338"/>
          </a:xfrm>
          <a:prstGeom prst="rect">
            <a:avLst/>
          </a:prstGeom>
          <a:noFill/>
        </p:spPr>
      </p:pic>
    </p:spTree>
    <p:custDataLst>
      <p:tags r:id="rId1"/>
    </p:custDataLst>
    <p:extLst>
      <p:ext uri="{BB962C8B-B14F-4D97-AF65-F5344CB8AC3E}">
        <p14:creationId xmlns:p14="http://schemas.microsoft.com/office/powerpoint/2010/main" val="4009730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13BC838-B25A-D37F-BC71-DD617895704C}"/>
              </a:ext>
            </a:extLst>
          </p:cNvPr>
          <p:cNvPicPr>
            <a:picLocks noChangeAspect="1"/>
          </p:cNvPicPr>
          <p:nvPr/>
        </p:nvPicPr>
        <p:blipFill>
          <a:blip r:embed="rId3"/>
          <a:stretch>
            <a:fillRect/>
          </a:stretch>
        </p:blipFill>
        <p:spPr>
          <a:xfrm>
            <a:off x="1450711" y="2025672"/>
            <a:ext cx="3194581" cy="3194581"/>
          </a:xfrm>
          <a:prstGeom prst="rect">
            <a:avLst/>
          </a:prstGeom>
        </p:spPr>
      </p:pic>
      <p:sp>
        <p:nvSpPr>
          <p:cNvPr id="9" name="Title 1">
            <a:extLst>
              <a:ext uri="{FF2B5EF4-FFF2-40B4-BE49-F238E27FC236}">
                <a16:creationId xmlns:a16="http://schemas.microsoft.com/office/drawing/2014/main" id="{EEC79264-7E04-A135-9158-F7EF333AC3D8}"/>
              </a:ext>
            </a:extLst>
          </p:cNvPr>
          <p:cNvSpPr txBox="1">
            <a:spLocks/>
          </p:cNvSpPr>
          <p:nvPr/>
        </p:nvSpPr>
        <p:spPr>
          <a:xfrm>
            <a:off x="782054" y="263810"/>
            <a:ext cx="850852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b="1" i="0" kern="1200">
                <a:solidFill>
                  <a:srgbClr val="525252"/>
                </a:solidFill>
                <a:latin typeface="IBM Plex Sans SemiBold" panose="020B0503050203000203" pitchFamily="34" charset="0"/>
                <a:ea typeface="IBM Plex Sans SemiBold" panose="020B0503050203000203" pitchFamily="34" charset="0"/>
                <a:cs typeface="IBM Plex Sans SemiBold" panose="020B0503050203000203" pitchFamily="34" charset="0"/>
              </a:defRPr>
            </a:lvl1pPr>
          </a:lstStyle>
          <a:p>
            <a:r>
              <a:rPr lang="en-US"/>
              <a:t>OUTLINE</a:t>
            </a:r>
            <a:endParaRPr lang="en-US" dirty="0"/>
          </a:p>
        </p:txBody>
      </p:sp>
      <p:sp>
        <p:nvSpPr>
          <p:cNvPr id="10" name="Content Placeholder 2">
            <a:extLst>
              <a:ext uri="{FF2B5EF4-FFF2-40B4-BE49-F238E27FC236}">
                <a16:creationId xmlns:a16="http://schemas.microsoft.com/office/drawing/2014/main" id="{79639434-C7DB-C6DD-28C9-5FE3588C5BC8}"/>
              </a:ext>
            </a:extLst>
          </p:cNvPr>
          <p:cNvSpPr txBox="1">
            <a:spLocks/>
          </p:cNvSpPr>
          <p:nvPr/>
        </p:nvSpPr>
        <p:spPr>
          <a:xfrm>
            <a:off x="6172200" y="1825625"/>
            <a:ext cx="5181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262626"/>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t>Executive Summary</a:t>
            </a:r>
          </a:p>
          <a:p>
            <a:r>
              <a:rPr lang="en-US" sz="2200" dirty="0"/>
              <a:t>Introduction</a:t>
            </a:r>
          </a:p>
          <a:p>
            <a:r>
              <a:rPr lang="en-US" sz="2200" dirty="0"/>
              <a:t>Methodology</a:t>
            </a:r>
          </a:p>
          <a:p>
            <a:r>
              <a:rPr lang="en-US" sz="2200" dirty="0"/>
              <a:t>Results</a:t>
            </a:r>
          </a:p>
          <a:p>
            <a:pPr lvl="1"/>
            <a:r>
              <a:rPr lang="en-US" sz="1800" dirty="0"/>
              <a:t>Visualization – Charts</a:t>
            </a:r>
          </a:p>
          <a:p>
            <a:pPr lvl="1"/>
            <a:r>
              <a:rPr lang="en-US" sz="1800" dirty="0"/>
              <a:t>Dashboard</a:t>
            </a:r>
          </a:p>
          <a:p>
            <a:r>
              <a:rPr lang="en-US" sz="2200" dirty="0"/>
              <a:t>Discussion</a:t>
            </a:r>
          </a:p>
          <a:p>
            <a:pPr lvl="1"/>
            <a:r>
              <a:rPr lang="en-US" sz="1800" dirty="0"/>
              <a:t>Findings &amp; Implications</a:t>
            </a:r>
          </a:p>
          <a:p>
            <a:r>
              <a:rPr lang="en-US" sz="2200" dirty="0"/>
              <a:t>Conclusion</a:t>
            </a:r>
          </a:p>
          <a:p>
            <a:r>
              <a:rPr lang="en-US" sz="2200" dirty="0"/>
              <a:t>Appendix</a:t>
            </a:r>
          </a:p>
        </p:txBody>
      </p:sp>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17992DA0-58E4-05C4-71CF-DD740B996440}"/>
                  </a:ext>
                </a:extLst>
              </p14:cNvPr>
              <p14:cNvContentPartPr/>
              <p14:nvPr/>
            </p14:nvContentPartPr>
            <p14:xfrm>
              <a:off x="1889280" y="999312"/>
              <a:ext cx="360" cy="360"/>
            </p14:xfrm>
          </p:contentPart>
        </mc:Choice>
        <mc:Fallback xmlns="">
          <p:pic>
            <p:nvPicPr>
              <p:cNvPr id="11" name="Ink 10">
                <a:extLst>
                  <a:ext uri="{FF2B5EF4-FFF2-40B4-BE49-F238E27FC236}">
                    <a16:creationId xmlns:a16="http://schemas.microsoft.com/office/drawing/2014/main" id="{17992DA0-58E4-05C4-71CF-DD740B996440}"/>
                  </a:ext>
                </a:extLst>
              </p:cNvPr>
              <p:cNvPicPr/>
              <p:nvPr/>
            </p:nvPicPr>
            <p:blipFill>
              <a:blip r:embed="rId5"/>
              <a:stretch>
                <a:fillRect/>
              </a:stretch>
            </p:blipFill>
            <p:spPr>
              <a:xfrm>
                <a:off x="1799280" y="81931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482A2257-403C-392A-475C-257A25E95802}"/>
                  </a:ext>
                </a:extLst>
              </p14:cNvPr>
              <p14:cNvContentPartPr/>
              <p14:nvPr/>
            </p14:nvContentPartPr>
            <p14:xfrm>
              <a:off x="2328120" y="962952"/>
              <a:ext cx="360" cy="360"/>
            </p14:xfrm>
          </p:contentPart>
        </mc:Choice>
        <mc:Fallback xmlns="">
          <p:pic>
            <p:nvPicPr>
              <p:cNvPr id="12" name="Ink 11">
                <a:extLst>
                  <a:ext uri="{FF2B5EF4-FFF2-40B4-BE49-F238E27FC236}">
                    <a16:creationId xmlns:a16="http://schemas.microsoft.com/office/drawing/2014/main" id="{482A2257-403C-392A-475C-257A25E95802}"/>
                  </a:ext>
                </a:extLst>
              </p:cNvPr>
              <p:cNvPicPr/>
              <p:nvPr/>
            </p:nvPicPr>
            <p:blipFill>
              <a:blip r:embed="rId5"/>
              <a:stretch>
                <a:fillRect/>
              </a:stretch>
            </p:blipFill>
            <p:spPr>
              <a:xfrm>
                <a:off x="2238120" y="782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D029E5DF-95C3-9324-3430-6C07411D941C}"/>
                  </a:ext>
                </a:extLst>
              </p14:cNvPr>
              <p14:cNvContentPartPr/>
              <p14:nvPr/>
            </p14:nvContentPartPr>
            <p14:xfrm>
              <a:off x="2828160" y="926232"/>
              <a:ext cx="360" cy="360"/>
            </p14:xfrm>
          </p:contentPart>
        </mc:Choice>
        <mc:Fallback xmlns="">
          <p:pic>
            <p:nvPicPr>
              <p:cNvPr id="13" name="Ink 12">
                <a:extLst>
                  <a:ext uri="{FF2B5EF4-FFF2-40B4-BE49-F238E27FC236}">
                    <a16:creationId xmlns:a16="http://schemas.microsoft.com/office/drawing/2014/main" id="{D029E5DF-95C3-9324-3430-6C07411D941C}"/>
                  </a:ext>
                </a:extLst>
              </p:cNvPr>
              <p:cNvPicPr/>
              <p:nvPr/>
            </p:nvPicPr>
            <p:blipFill>
              <a:blip r:embed="rId5"/>
              <a:stretch>
                <a:fillRect/>
              </a:stretch>
            </p:blipFill>
            <p:spPr>
              <a:xfrm>
                <a:off x="2738160" y="74623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51E65F16-DA3B-6993-F729-45193F9CF124}"/>
                  </a:ext>
                </a:extLst>
              </p14:cNvPr>
              <p14:cNvContentPartPr/>
              <p14:nvPr/>
            </p14:nvContentPartPr>
            <p14:xfrm>
              <a:off x="2828160" y="926232"/>
              <a:ext cx="3240" cy="5040"/>
            </p14:xfrm>
          </p:contentPart>
        </mc:Choice>
        <mc:Fallback xmlns="">
          <p:pic>
            <p:nvPicPr>
              <p:cNvPr id="14" name="Ink 13">
                <a:extLst>
                  <a:ext uri="{FF2B5EF4-FFF2-40B4-BE49-F238E27FC236}">
                    <a16:creationId xmlns:a16="http://schemas.microsoft.com/office/drawing/2014/main" id="{51E65F16-DA3B-6993-F729-45193F9CF124}"/>
                  </a:ext>
                </a:extLst>
              </p:cNvPr>
              <p:cNvPicPr/>
              <p:nvPr/>
            </p:nvPicPr>
            <p:blipFill>
              <a:blip r:embed="rId9"/>
              <a:stretch>
                <a:fillRect/>
              </a:stretch>
            </p:blipFill>
            <p:spPr>
              <a:xfrm>
                <a:off x="2738160" y="758232"/>
                <a:ext cx="182880" cy="34070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DA4954AB-7AA6-D07E-B72B-071B959556E6}"/>
                  </a:ext>
                </a:extLst>
              </p14:cNvPr>
              <p14:cNvContentPartPr/>
              <p14:nvPr/>
            </p14:nvContentPartPr>
            <p14:xfrm>
              <a:off x="7266240" y="2888952"/>
              <a:ext cx="360" cy="360"/>
            </p14:xfrm>
          </p:contentPart>
        </mc:Choice>
        <mc:Fallback xmlns="">
          <p:pic>
            <p:nvPicPr>
              <p:cNvPr id="15" name="Ink 14">
                <a:extLst>
                  <a:ext uri="{FF2B5EF4-FFF2-40B4-BE49-F238E27FC236}">
                    <a16:creationId xmlns:a16="http://schemas.microsoft.com/office/drawing/2014/main" id="{DA4954AB-7AA6-D07E-B72B-071B959556E6}"/>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4C9430D9-2989-125F-94DC-1DA2D66BDD55}"/>
                  </a:ext>
                </a:extLst>
              </p14:cNvPr>
              <p14:cNvContentPartPr/>
              <p14:nvPr/>
            </p14:nvContentPartPr>
            <p14:xfrm>
              <a:off x="7266240" y="2888952"/>
              <a:ext cx="360" cy="360"/>
            </p14:xfrm>
          </p:contentPart>
        </mc:Choice>
        <mc:Fallback xmlns="">
          <p:pic>
            <p:nvPicPr>
              <p:cNvPr id="16" name="Ink 15">
                <a:extLst>
                  <a:ext uri="{FF2B5EF4-FFF2-40B4-BE49-F238E27FC236}">
                    <a16:creationId xmlns:a16="http://schemas.microsoft.com/office/drawing/2014/main" id="{4C9430D9-2989-125F-94DC-1DA2D66BDD55}"/>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09380E8-5542-6CEB-DEF5-1F0E98FBDFC2}"/>
                  </a:ext>
                </a:extLst>
              </p14:cNvPr>
              <p14:cNvContentPartPr/>
              <p14:nvPr/>
            </p14:nvContentPartPr>
            <p14:xfrm>
              <a:off x="7266240" y="2888952"/>
              <a:ext cx="360" cy="360"/>
            </p14:xfrm>
          </p:contentPart>
        </mc:Choice>
        <mc:Fallback xmlns="">
          <p:pic>
            <p:nvPicPr>
              <p:cNvPr id="17" name="Ink 16">
                <a:extLst>
                  <a:ext uri="{FF2B5EF4-FFF2-40B4-BE49-F238E27FC236}">
                    <a16:creationId xmlns:a16="http://schemas.microsoft.com/office/drawing/2014/main" id="{009380E8-5542-6CEB-DEF5-1F0E98FBDFC2}"/>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73A9B50E-8658-465E-AEAA-D97CD87BB40D}"/>
                  </a:ext>
                </a:extLst>
              </p14:cNvPr>
              <p14:cNvContentPartPr/>
              <p14:nvPr/>
            </p14:nvContentPartPr>
            <p14:xfrm>
              <a:off x="7266240" y="2888952"/>
              <a:ext cx="360" cy="360"/>
            </p14:xfrm>
          </p:contentPart>
        </mc:Choice>
        <mc:Fallback xmlns="">
          <p:pic>
            <p:nvPicPr>
              <p:cNvPr id="18" name="Ink 17">
                <a:extLst>
                  <a:ext uri="{FF2B5EF4-FFF2-40B4-BE49-F238E27FC236}">
                    <a16:creationId xmlns:a16="http://schemas.microsoft.com/office/drawing/2014/main" id="{73A9B50E-8658-465E-AEAA-D97CD87BB40D}"/>
                  </a:ext>
                </a:extLst>
              </p:cNvPr>
              <p:cNvPicPr/>
              <p:nvPr/>
            </p:nvPicPr>
            <p:blipFill>
              <a:blip r:embed="rId5"/>
              <a:stretch>
                <a:fillRect/>
              </a:stretch>
            </p:blipFill>
            <p:spPr>
              <a:xfrm>
                <a:off x="7176240" y="2708952"/>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329C95BA-F81E-F99B-4BF2-F62AECFA21A6}"/>
                  </a:ext>
                </a:extLst>
              </p14:cNvPr>
              <p14:cNvContentPartPr/>
              <p14:nvPr/>
            </p14:nvContentPartPr>
            <p14:xfrm>
              <a:off x="6680880" y="2877072"/>
              <a:ext cx="360" cy="360"/>
            </p14:xfrm>
          </p:contentPart>
        </mc:Choice>
        <mc:Fallback xmlns="">
          <p:pic>
            <p:nvPicPr>
              <p:cNvPr id="19" name="Ink 18">
                <a:extLst>
                  <a:ext uri="{FF2B5EF4-FFF2-40B4-BE49-F238E27FC236}">
                    <a16:creationId xmlns:a16="http://schemas.microsoft.com/office/drawing/2014/main" id="{329C95BA-F81E-F99B-4BF2-F62AECFA21A6}"/>
                  </a:ext>
                </a:extLst>
              </p:cNvPr>
              <p:cNvPicPr/>
              <p:nvPr/>
            </p:nvPicPr>
            <p:blipFill>
              <a:blip r:embed="rId5"/>
              <a:stretch>
                <a:fillRect/>
              </a:stretch>
            </p:blipFill>
            <p:spPr>
              <a:xfrm>
                <a:off x="6590880" y="2697072"/>
                <a:ext cx="180000" cy="360000"/>
              </a:xfrm>
              <a:prstGeom prst="rect">
                <a:avLst/>
              </a:prstGeom>
            </p:spPr>
          </p:pic>
        </mc:Fallback>
      </mc:AlternateContent>
    </p:spTree>
    <p:custDataLst>
      <p:tags r:id="rId1"/>
    </p:custDataLst>
    <p:extLst>
      <p:ext uri="{BB962C8B-B14F-4D97-AF65-F5344CB8AC3E}">
        <p14:creationId xmlns:p14="http://schemas.microsoft.com/office/powerpoint/2010/main" val="1453241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48DC5-8A48-2A34-31B9-FC8CB168CAED}"/>
              </a:ext>
            </a:extLst>
          </p:cNvPr>
          <p:cNvSpPr>
            <a:spLocks noGrp="1"/>
          </p:cNvSpPr>
          <p:nvPr>
            <p:ph type="title"/>
          </p:nvPr>
        </p:nvSpPr>
        <p:spPr>
          <a:xfrm>
            <a:off x="733926" y="304965"/>
            <a:ext cx="8565109" cy="1325563"/>
          </a:xfrm>
        </p:spPr>
        <p:txBody>
          <a:bodyPr anchor="ctr">
            <a:normAutofit/>
          </a:bodyPr>
          <a:lstStyle/>
          <a:p>
            <a:r>
              <a:rPr lang="en-US" dirty="0"/>
              <a:t>EXECUTIVE SUMMARY</a:t>
            </a:r>
          </a:p>
        </p:txBody>
      </p:sp>
      <p:sp>
        <p:nvSpPr>
          <p:cNvPr id="3" name="Content Placeholder 2">
            <a:extLst>
              <a:ext uri="{FF2B5EF4-FFF2-40B4-BE49-F238E27FC236}">
                <a16:creationId xmlns:a16="http://schemas.microsoft.com/office/drawing/2014/main" id="{06B44109-938A-7A63-C3A8-FDDB5C799EA5}"/>
              </a:ext>
            </a:extLst>
          </p:cNvPr>
          <p:cNvSpPr txBox="1">
            <a:spLocks/>
          </p:cNvSpPr>
          <p:nvPr/>
        </p:nvSpPr>
        <p:spPr>
          <a:xfrm>
            <a:off x="4285075" y="1489448"/>
            <a:ext cx="7068725" cy="480162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latin typeface="IBM Plex Sans"/>
              </a:rPr>
              <a:t>Python and JavaScript Dominate the Market</a:t>
            </a:r>
            <a:endParaRPr lang="en-US" dirty="0"/>
          </a:p>
          <a:p>
            <a:r>
              <a:rPr lang="en-US" sz="2200" dirty="0">
                <a:latin typeface="IBM Plex Sans"/>
              </a:rPr>
              <a:t>Widespread Adoption of Cloud/DevOps Technologies</a:t>
            </a:r>
            <a:endParaRPr lang="en-US" dirty="0"/>
          </a:p>
          <a:p>
            <a:pPr lvl="1"/>
            <a:r>
              <a:rPr lang="en-US" sz="1800" b="1" dirty="0">
                <a:latin typeface="IBM Plex Sans"/>
              </a:rPr>
              <a:t>Finding:</a:t>
            </a:r>
            <a:r>
              <a:rPr lang="en-US" sz="1800" dirty="0">
                <a:latin typeface="IBM Plex Sans"/>
              </a:rPr>
              <a:t> The most commonly used development platforms are </a:t>
            </a:r>
            <a:r>
              <a:rPr lang="en-US" sz="1800" b="1" dirty="0">
                <a:latin typeface="IBM Plex Sans"/>
              </a:rPr>
              <a:t>Linux</a:t>
            </a:r>
            <a:r>
              <a:rPr lang="en-US" sz="1800" dirty="0">
                <a:latin typeface="IBM Plex Sans"/>
              </a:rPr>
              <a:t> and </a:t>
            </a:r>
            <a:r>
              <a:rPr lang="en-US" sz="1800" b="1" dirty="0">
                <a:latin typeface="IBM Plex Sans"/>
              </a:rPr>
              <a:t>Docker</a:t>
            </a:r>
            <a:r>
              <a:rPr lang="en-US" sz="1800" dirty="0">
                <a:latin typeface="IBM Plex Sans"/>
              </a:rPr>
              <a:t>, indicating a pervasive industry shift toward cloud-native applications and DevOps automation practices.</a:t>
            </a:r>
            <a:endParaRPr lang="en-US" sz="1800" dirty="0"/>
          </a:p>
          <a:p>
            <a:pPr lvl="1"/>
            <a:r>
              <a:rPr lang="en-US" sz="1800" b="1" dirty="0">
                <a:latin typeface="IBM Plex Sans"/>
              </a:rPr>
              <a:t>Implication:</a:t>
            </a:r>
            <a:r>
              <a:rPr lang="en-US" sz="1800" dirty="0">
                <a:latin typeface="IBM Plex Sans"/>
              </a:rPr>
              <a:t> Foundational skills in containerization and cloud infrastructure management are now core competencies, rather than specialized skills.</a:t>
            </a:r>
          </a:p>
          <a:p>
            <a:r>
              <a:rPr lang="en-US" sz="2200" dirty="0">
                <a:latin typeface="IBM Plex Sans"/>
              </a:rPr>
              <a:t>PostgreSQL and NoSQL Lead Future Database Trends</a:t>
            </a:r>
            <a:endParaRPr lang="en-US" dirty="0"/>
          </a:p>
          <a:p>
            <a:r>
              <a:rPr lang="en-US" sz="2200" dirty="0">
                <a:latin typeface="IBM Plex Sans"/>
              </a:rPr>
              <a:t>Persistent Compensation and Demographic Gaps</a:t>
            </a:r>
            <a:endParaRPr lang="en-US" dirty="0"/>
          </a:p>
          <a:p>
            <a:r>
              <a:rPr lang="en-US" sz="2200" dirty="0">
                <a:latin typeface="IBM Plex Sans"/>
              </a:rPr>
              <a:t>Niche Skills Command Salary Premium</a:t>
            </a:r>
            <a:endParaRPr lang="en-US"/>
          </a:p>
          <a:p>
            <a:pPr marL="0" indent="0">
              <a:buNone/>
            </a:pPr>
            <a:r>
              <a:rPr lang="en-US" sz="1800" dirty="0">
                <a:latin typeface="IBM Plex Sans"/>
              </a:rPr>
              <a:t> </a:t>
            </a:r>
          </a:p>
          <a:p>
            <a:endParaRPr lang="en-US" sz="2200" dirty="0"/>
          </a:p>
        </p:txBody>
      </p:sp>
      <p:pic>
        <p:nvPicPr>
          <p:cNvPr id="7" name="Picture 6">
            <a:extLst>
              <a:ext uri="{FF2B5EF4-FFF2-40B4-BE49-F238E27FC236}">
                <a16:creationId xmlns:a16="http://schemas.microsoft.com/office/drawing/2014/main" id="{DA6795A9-FE70-B337-8B17-B79ACA60A9C1}"/>
              </a:ext>
            </a:extLst>
          </p:cNvPr>
          <p:cNvPicPr>
            <a:picLocks noChangeAspect="1"/>
          </p:cNvPicPr>
          <p:nvPr/>
        </p:nvPicPr>
        <p:blipFill>
          <a:blip r:embed="rId3"/>
          <a:stretch>
            <a:fillRect/>
          </a:stretch>
        </p:blipFill>
        <p:spPr>
          <a:xfrm>
            <a:off x="1090494" y="2302762"/>
            <a:ext cx="3194581" cy="3194581"/>
          </a:xfrm>
          <a:prstGeom prst="rect">
            <a:avLst/>
          </a:prstGeom>
        </p:spPr>
      </p:pic>
    </p:spTree>
    <p:custDataLst>
      <p:tags r:id="rId1"/>
    </p:custDataLst>
    <p:extLst>
      <p:ext uri="{BB962C8B-B14F-4D97-AF65-F5344CB8AC3E}">
        <p14:creationId xmlns:p14="http://schemas.microsoft.com/office/powerpoint/2010/main" val="15553854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76FB0-8465-86A8-332A-32CC35A5D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7DC8D-244C-F7EC-5F66-ACB99A7D61C9}"/>
              </a:ext>
            </a:extLst>
          </p:cNvPr>
          <p:cNvSpPr>
            <a:spLocks noGrp="1"/>
          </p:cNvSpPr>
          <p:nvPr>
            <p:ph type="title"/>
          </p:nvPr>
        </p:nvSpPr>
        <p:spPr>
          <a:xfrm>
            <a:off x="770021" y="365125"/>
            <a:ext cx="7647865" cy="1325563"/>
          </a:xfrm>
        </p:spPr>
        <p:txBody>
          <a:bodyPr anchor="ctr">
            <a:normAutofit/>
          </a:bodyPr>
          <a:lstStyle/>
          <a:p>
            <a:r>
              <a:rPr lang="en-US" dirty="0"/>
              <a:t>INTRODUCTION</a:t>
            </a:r>
          </a:p>
        </p:txBody>
      </p:sp>
      <p:pic>
        <p:nvPicPr>
          <p:cNvPr id="3" name="Picture 2">
            <a:extLst>
              <a:ext uri="{FF2B5EF4-FFF2-40B4-BE49-F238E27FC236}">
                <a16:creationId xmlns:a16="http://schemas.microsoft.com/office/drawing/2014/main" id="{BBCC879F-E713-B75A-D2DE-0953EB0EA469}"/>
              </a:ext>
            </a:extLst>
          </p:cNvPr>
          <p:cNvPicPr>
            <a:picLocks noChangeAspect="1"/>
          </p:cNvPicPr>
          <p:nvPr/>
        </p:nvPicPr>
        <p:blipFill>
          <a:blip r:embed="rId3"/>
          <a:stretch>
            <a:fillRect/>
          </a:stretch>
        </p:blipFill>
        <p:spPr>
          <a:xfrm>
            <a:off x="994347" y="2262036"/>
            <a:ext cx="3054361" cy="3054361"/>
          </a:xfrm>
          <a:prstGeom prst="rect">
            <a:avLst/>
          </a:prstGeom>
        </p:spPr>
      </p:pic>
      <p:sp>
        <p:nvSpPr>
          <p:cNvPr id="4" name="Content Placeholder 2">
            <a:extLst>
              <a:ext uri="{FF2B5EF4-FFF2-40B4-BE49-F238E27FC236}">
                <a16:creationId xmlns:a16="http://schemas.microsoft.com/office/drawing/2014/main" id="{ED35578F-30C9-4905-FD4E-7366FEFAEA7F}"/>
              </a:ext>
            </a:extLst>
          </p:cNvPr>
          <p:cNvSpPr txBox="1">
            <a:spLocks/>
          </p:cNvSpPr>
          <p:nvPr/>
        </p:nvSpPr>
        <p:spPr>
          <a:xfrm>
            <a:off x="4285075" y="1825625"/>
            <a:ext cx="7068725" cy="4351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0070C0"/>
                </a:solidFill>
                <a:latin typeface="IBM Plex Mono Text" panose="020B0509050203000203" pitchFamily="49"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0070C0"/>
                </a:solidFill>
                <a:latin typeface="IBM Plex Mono Text" panose="020B0509050203000203" pitchFamily="49"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0070C0"/>
                </a:solidFill>
                <a:latin typeface="IBM Plex Mono Text" panose="020B0509050203000203" pitchFamily="49"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0070C0"/>
                </a:solidFill>
                <a:latin typeface="IBM Plex Mono Text" panose="020B0509050203000203" pitchFamily="49"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solidFill>
                  <a:schemeClr val="tx1"/>
                </a:solidFill>
                <a:latin typeface="IBM Plex Mono Text"/>
              </a:rPr>
              <a:t>To conduct an </a:t>
            </a:r>
            <a:r>
              <a:rPr lang="en-US" sz="2200" b="1" dirty="0">
                <a:solidFill>
                  <a:schemeClr val="tx1"/>
                </a:solidFill>
                <a:latin typeface="IBM Plex Mono Text"/>
              </a:rPr>
              <a:t>in-depth data analysis</a:t>
            </a:r>
            <a:r>
              <a:rPr lang="en-US" sz="2200" dirty="0">
                <a:solidFill>
                  <a:schemeClr val="tx1"/>
                </a:solidFill>
                <a:latin typeface="IBM Plex Mono Text"/>
              </a:rPr>
              <a:t> of current and emerging technology trends within the global IT industry.</a:t>
            </a:r>
            <a:endParaRPr lang="en-US" dirty="0">
              <a:solidFill>
                <a:schemeClr val="tx1"/>
              </a:solidFill>
            </a:endParaRPr>
          </a:p>
          <a:p>
            <a:r>
              <a:rPr lang="en-US" sz="2200" dirty="0">
                <a:solidFill>
                  <a:schemeClr val="tx1"/>
                </a:solidFill>
                <a:latin typeface="IBM Plex Mono Text"/>
              </a:rPr>
              <a:t>To leverage data from developer surveys, job postings, and technical portals to identify the most </a:t>
            </a:r>
            <a:r>
              <a:rPr lang="en-US" sz="2200" b="1" dirty="0">
                <a:solidFill>
                  <a:schemeClr val="tx1"/>
                </a:solidFill>
                <a:latin typeface="IBM Plex Mono Text"/>
              </a:rPr>
              <a:t>in-demand skills, languages, and platforms</a:t>
            </a:r>
            <a:r>
              <a:rPr lang="en-US" sz="2200" dirty="0">
                <a:solidFill>
                  <a:schemeClr val="tx1"/>
                </a:solidFill>
                <a:latin typeface="IBM Plex Mono Text"/>
              </a:rPr>
              <a:t>.</a:t>
            </a:r>
            <a:endParaRPr lang="en-US" dirty="0">
              <a:solidFill>
                <a:schemeClr val="tx1"/>
              </a:solidFill>
            </a:endParaRPr>
          </a:p>
          <a:p>
            <a:r>
              <a:rPr lang="en-US" sz="2200" dirty="0">
                <a:solidFill>
                  <a:schemeClr val="tx1"/>
                </a:solidFill>
                <a:latin typeface="IBM Plex Mono Text"/>
              </a:rPr>
              <a:t>To translate complex data findings into </a:t>
            </a:r>
            <a:r>
              <a:rPr lang="en-US" sz="2200" b="1" dirty="0">
                <a:solidFill>
                  <a:schemeClr val="tx1"/>
                </a:solidFill>
                <a:latin typeface="IBM Plex Mono Text"/>
              </a:rPr>
              <a:t>clear, actionable insights</a:t>
            </a:r>
            <a:r>
              <a:rPr lang="en-US" sz="2200" dirty="0">
                <a:solidFill>
                  <a:schemeClr val="tx1"/>
                </a:solidFill>
                <a:latin typeface="IBM Plex Mono Text"/>
              </a:rPr>
              <a:t> for strategic decision-making.</a:t>
            </a:r>
            <a:endParaRPr lang="en-US" sz="2200" dirty="0">
              <a:solidFill>
                <a:schemeClr val="tx1"/>
              </a:solidFill>
            </a:endParaRPr>
          </a:p>
          <a:p>
            <a:r>
              <a:rPr lang="en-US" sz="2200" dirty="0">
                <a:solidFill>
                  <a:schemeClr val="tx1"/>
                </a:solidFill>
                <a:latin typeface="IBM Plex Mono Text"/>
              </a:rPr>
              <a:t>Target Audience &amp; Business Value</a:t>
            </a:r>
            <a:endParaRPr lang="en-US" sz="2200" dirty="0">
              <a:solidFill>
                <a:schemeClr val="tx1"/>
              </a:solidFill>
            </a:endParaRPr>
          </a:p>
          <a:p>
            <a:pPr lvl="1"/>
            <a:r>
              <a:rPr lang="en-US" sz="1800" dirty="0">
                <a:solidFill>
                  <a:schemeClr val="tx1"/>
                </a:solidFill>
                <a:latin typeface="IBM Plex Mono Text"/>
              </a:rPr>
              <a:t>IT Leadership, Developers , Training &amp; Education Providers</a:t>
            </a:r>
            <a:endParaRPr lang="en-US" dirty="0">
              <a:solidFill>
                <a:schemeClr val="tx1"/>
              </a:solidFill>
            </a:endParaRPr>
          </a:p>
          <a:p>
            <a:pPr lvl="1"/>
            <a:r>
              <a:rPr lang="en-US" sz="1800" dirty="0">
                <a:solidFill>
                  <a:schemeClr val="tx1"/>
                </a:solidFill>
                <a:latin typeface="IBM Plex Mono Text"/>
              </a:rPr>
              <a:t>Mitigation of Skill Gaps, Optimized Investment, Competitive Advantage</a:t>
            </a:r>
            <a:endParaRPr lang="en-US" sz="1800" dirty="0">
              <a:solidFill>
                <a:schemeClr val="tx1"/>
              </a:solidFill>
            </a:endParaRPr>
          </a:p>
        </p:txBody>
      </p:sp>
    </p:spTree>
    <p:custDataLst>
      <p:tags r:id="rId1"/>
    </p:custDataLst>
    <p:extLst>
      <p:ext uri="{BB962C8B-B14F-4D97-AF65-F5344CB8AC3E}">
        <p14:creationId xmlns:p14="http://schemas.microsoft.com/office/powerpoint/2010/main" val="2040863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1DCFD-8450-17AD-05D4-229BA1C66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AB7E7-7534-10CB-A359-88015C285B97}"/>
              </a:ext>
            </a:extLst>
          </p:cNvPr>
          <p:cNvSpPr>
            <a:spLocks noGrp="1"/>
          </p:cNvSpPr>
          <p:nvPr>
            <p:ph type="title"/>
          </p:nvPr>
        </p:nvSpPr>
        <p:spPr>
          <a:xfrm>
            <a:off x="782053" y="376642"/>
            <a:ext cx="7230723" cy="1325563"/>
          </a:xfrm>
        </p:spPr>
        <p:txBody>
          <a:bodyPr anchor="ctr">
            <a:normAutofit/>
          </a:bodyPr>
          <a:lstStyle/>
          <a:p>
            <a:r>
              <a:rPr lang="en-US" dirty="0"/>
              <a:t>METHODOLOGY</a:t>
            </a:r>
          </a:p>
        </p:txBody>
      </p:sp>
      <p:sp>
        <p:nvSpPr>
          <p:cNvPr id="3" name="Content Placeholder 2">
            <a:extLst>
              <a:ext uri="{FF2B5EF4-FFF2-40B4-BE49-F238E27FC236}">
                <a16:creationId xmlns:a16="http://schemas.microsoft.com/office/drawing/2014/main" id="{5EF8C842-232A-AE37-3471-90353781809D}"/>
              </a:ext>
            </a:extLst>
          </p:cNvPr>
          <p:cNvSpPr txBox="1">
            <a:spLocks/>
          </p:cNvSpPr>
          <p:nvPr/>
        </p:nvSpPr>
        <p:spPr>
          <a:xfrm>
            <a:off x="4285075" y="1478243"/>
            <a:ext cx="7068725" cy="46987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200" dirty="0">
                <a:latin typeface="IBM Plex Sans"/>
              </a:rPr>
              <a:t>Data Collection &amp; Tools</a:t>
            </a:r>
          </a:p>
          <a:p>
            <a:pPr lvl="1"/>
            <a:r>
              <a:rPr lang="en-US" sz="1800" b="1" dirty="0">
                <a:latin typeface="IBM Plex Sans"/>
              </a:rPr>
              <a:t>Collection:</a:t>
            </a:r>
            <a:r>
              <a:rPr lang="en-US" sz="1800" dirty="0">
                <a:latin typeface="IBM Plex Sans"/>
              </a:rPr>
              <a:t> Data was collected using </a:t>
            </a:r>
            <a:r>
              <a:rPr lang="en-US" sz="1800" b="1" dirty="0">
                <a:latin typeface="IBM Plex Sans"/>
              </a:rPr>
              <a:t>Python</a:t>
            </a:r>
            <a:r>
              <a:rPr lang="en-US" sz="1800" dirty="0">
                <a:latin typeface="IBM Plex Sans"/>
              </a:rPr>
              <a:t> libraries </a:t>
            </a:r>
            <a:r>
              <a:rPr lang="en-US" sz="1800">
                <a:latin typeface="IBM Plex Sans"/>
              </a:rPr>
              <a:t>and was loaded into </a:t>
            </a:r>
            <a:r>
              <a:rPr lang="en-US" sz="1800" b="1" dirty="0">
                <a:latin typeface="IBM Plex Sans"/>
              </a:rPr>
              <a:t>Pandas </a:t>
            </a:r>
            <a:r>
              <a:rPr lang="en-US" sz="1800" b="1" err="1">
                <a:latin typeface="IBM Plex Sans"/>
              </a:rPr>
              <a:t>DataFrames</a:t>
            </a:r>
            <a:r>
              <a:rPr lang="en-US" sz="1800" dirty="0">
                <a:latin typeface="IBM Plex Sans"/>
              </a:rPr>
              <a:t> for processing.</a:t>
            </a:r>
          </a:p>
          <a:p>
            <a:pPr lvl="1"/>
            <a:r>
              <a:rPr lang="en-US" sz="1800" b="1" dirty="0">
                <a:latin typeface="IBM Plex Sans"/>
              </a:rPr>
              <a:t>Analysis:</a:t>
            </a:r>
            <a:r>
              <a:rPr lang="en-US" sz="1800" dirty="0">
                <a:latin typeface="IBM Plex Sans"/>
              </a:rPr>
              <a:t> Exploratory Data Analysis (EDA) were performed using Python (Pandas, NumPy, Matplotlib, Seaborn).</a:t>
            </a:r>
            <a:endParaRPr lang="en-US"/>
          </a:p>
          <a:p>
            <a:pPr lvl="1"/>
            <a:r>
              <a:rPr lang="en-US" sz="1800" b="1" dirty="0">
                <a:latin typeface="IBM Plex Sans"/>
              </a:rPr>
              <a:t>Visualization:</a:t>
            </a:r>
            <a:r>
              <a:rPr lang="en-US" sz="1800" dirty="0">
                <a:latin typeface="IBM Plex Sans"/>
              </a:rPr>
              <a:t> Final charts and dashboards were created using </a:t>
            </a:r>
            <a:r>
              <a:rPr lang="en-US" sz="1800" b="1" dirty="0">
                <a:latin typeface="IBM Plex Sans"/>
              </a:rPr>
              <a:t>Google Looker Studio</a:t>
            </a:r>
            <a:r>
              <a:rPr lang="en-US" sz="1800" dirty="0">
                <a:latin typeface="IBM Plex Sans"/>
              </a:rPr>
              <a:t> and </a:t>
            </a:r>
            <a:r>
              <a:rPr lang="en-US" sz="1800" b="1" dirty="0" err="1">
                <a:latin typeface="IBM Plex Sans"/>
              </a:rPr>
              <a:t>Plotly</a:t>
            </a:r>
            <a:r>
              <a:rPr lang="en-US" sz="1800" b="1" dirty="0">
                <a:latin typeface="IBM Plex Sans"/>
              </a:rPr>
              <a:t>/Dash</a:t>
            </a:r>
            <a:r>
              <a:rPr lang="en-US" sz="1800" dirty="0">
                <a:latin typeface="IBM Plex Sans"/>
              </a:rPr>
              <a:t>.</a:t>
            </a:r>
            <a:endParaRPr lang="en-US" dirty="0"/>
          </a:p>
          <a:p>
            <a:r>
              <a:rPr lang="en-US" sz="2200" dirty="0">
                <a:latin typeface="IBM Plex Sans"/>
              </a:rPr>
              <a:t>Data Wrangling &amp; Cleaning</a:t>
            </a:r>
          </a:p>
          <a:p>
            <a:pPr lvl="1"/>
            <a:r>
              <a:rPr lang="en-US" sz="1800" dirty="0">
                <a:latin typeface="IBM Plex Sans"/>
              </a:rPr>
              <a:t>Missing Value Imputation</a:t>
            </a:r>
            <a:endParaRPr lang="en-US" dirty="0"/>
          </a:p>
          <a:p>
            <a:pPr lvl="1"/>
            <a:r>
              <a:rPr lang="en-US" sz="1800" dirty="0">
                <a:latin typeface="IBM Plex Sans"/>
              </a:rPr>
              <a:t>Normalization</a:t>
            </a:r>
            <a:endParaRPr lang="en-US" dirty="0"/>
          </a:p>
          <a:p>
            <a:r>
              <a:rPr lang="en-US" sz="2200" dirty="0">
                <a:latin typeface="IBM Plex Sans"/>
              </a:rPr>
              <a:t>Data Sources</a:t>
            </a:r>
            <a:endParaRPr lang="en-US" dirty="0"/>
          </a:p>
          <a:p>
            <a:pPr lvl="1"/>
            <a:r>
              <a:rPr lang="en-US" sz="1800" dirty="0">
                <a:latin typeface="IBM Plex Sans"/>
              </a:rPr>
              <a:t>Stack Overflow Developer Survey (Primary Source)</a:t>
            </a:r>
            <a:endParaRPr lang="en-US" sz="1800" dirty="0"/>
          </a:p>
          <a:p>
            <a:pPr lvl="1"/>
            <a:r>
              <a:rPr lang="en-US" sz="1800" dirty="0">
                <a:latin typeface="IBM Plex Sans"/>
              </a:rPr>
              <a:t>Job Postings API</a:t>
            </a:r>
          </a:p>
          <a:p>
            <a:pPr lvl="1"/>
            <a:r>
              <a:rPr lang="en-US" sz="1800" dirty="0">
                <a:latin typeface="IBM Plex Sans"/>
              </a:rPr>
              <a:t>Web Scraping</a:t>
            </a:r>
          </a:p>
        </p:txBody>
      </p:sp>
      <p:pic>
        <p:nvPicPr>
          <p:cNvPr id="4" name="Picture 3">
            <a:extLst>
              <a:ext uri="{FF2B5EF4-FFF2-40B4-BE49-F238E27FC236}">
                <a16:creationId xmlns:a16="http://schemas.microsoft.com/office/drawing/2014/main" id="{280CF71F-8A03-DAC7-4BC2-F05644ECBFFF}"/>
              </a:ext>
            </a:extLst>
          </p:cNvPr>
          <p:cNvPicPr>
            <a:picLocks noChangeAspect="1"/>
          </p:cNvPicPr>
          <p:nvPr/>
        </p:nvPicPr>
        <p:blipFill>
          <a:blip r:embed="rId3"/>
          <a:stretch>
            <a:fillRect/>
          </a:stretch>
        </p:blipFill>
        <p:spPr>
          <a:xfrm>
            <a:off x="979655" y="1831709"/>
            <a:ext cx="3194581" cy="3194581"/>
          </a:xfrm>
          <a:prstGeom prst="rect">
            <a:avLst/>
          </a:prstGeom>
        </p:spPr>
      </p:pic>
    </p:spTree>
    <p:custDataLst>
      <p:tags r:id="rId1"/>
    </p:custDataLst>
    <p:extLst>
      <p:ext uri="{BB962C8B-B14F-4D97-AF65-F5344CB8AC3E}">
        <p14:creationId xmlns:p14="http://schemas.microsoft.com/office/powerpoint/2010/main" val="3791692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27A2E-C667-F6D3-A1E3-47F70603EAB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5539A591-4DF0-3912-FF72-3FD0BD7B9C1F}"/>
              </a:ext>
            </a:extLst>
          </p:cNvPr>
          <p:cNvSpPr>
            <a:spLocks noGrp="1"/>
          </p:cNvSpPr>
          <p:nvPr>
            <p:ph type="title"/>
          </p:nvPr>
        </p:nvSpPr>
        <p:spPr>
          <a:xfrm>
            <a:off x="838200" y="365125"/>
            <a:ext cx="10515600" cy="1325563"/>
          </a:xfrm>
        </p:spPr>
        <p:txBody>
          <a:bodyPr/>
          <a:lstStyle/>
          <a:p>
            <a:r>
              <a:rPr lang="en-US" dirty="0"/>
              <a:t>PROGRAMMING LANGUAGE TRENDS</a:t>
            </a:r>
          </a:p>
        </p:txBody>
      </p:sp>
      <p:sp>
        <p:nvSpPr>
          <p:cNvPr id="8" name="Content Placeholder 2">
            <a:extLst>
              <a:ext uri="{FF2B5EF4-FFF2-40B4-BE49-F238E27FC236}">
                <a16:creationId xmlns:a16="http://schemas.microsoft.com/office/drawing/2014/main" id="{54B8C8AD-F58A-1F17-9CA2-E737E1949923}"/>
              </a:ext>
            </a:extLst>
          </p:cNvPr>
          <p:cNvSpPr>
            <a:spLocks noGrp="1"/>
          </p:cNvSpPr>
          <p:nvPr>
            <p:ph sz="half" idx="1"/>
          </p:nvPr>
        </p:nvSpPr>
        <p:spPr>
          <a:xfrm>
            <a:off x="813816" y="1825625"/>
            <a:ext cx="2228642" cy="501939"/>
          </a:xfrm>
        </p:spPr>
        <p:txBody>
          <a:bodyPr/>
          <a:lstStyle/>
          <a:p>
            <a:pPr marL="0" indent="0">
              <a:buNone/>
            </a:pPr>
            <a:r>
              <a:rPr lang="en-US" dirty="0"/>
              <a:t>Current Year</a:t>
            </a:r>
          </a:p>
        </p:txBody>
      </p:sp>
      <p:sp>
        <p:nvSpPr>
          <p:cNvPr id="9" name="Content Placeholder 3">
            <a:extLst>
              <a:ext uri="{FF2B5EF4-FFF2-40B4-BE49-F238E27FC236}">
                <a16:creationId xmlns:a16="http://schemas.microsoft.com/office/drawing/2014/main" id="{D9FB3B79-D3E9-99FC-ECF2-28CCBF64752F}"/>
              </a:ext>
            </a:extLst>
          </p:cNvPr>
          <p:cNvSpPr>
            <a:spLocks noGrp="1"/>
          </p:cNvSpPr>
          <p:nvPr>
            <p:ph sz="half" idx="2"/>
          </p:nvPr>
        </p:nvSpPr>
        <p:spPr>
          <a:xfrm>
            <a:off x="6172200" y="1825625"/>
            <a:ext cx="1758142" cy="501939"/>
          </a:xfrm>
        </p:spPr>
        <p:txBody>
          <a:bodyPr/>
          <a:lstStyle/>
          <a:p>
            <a:pPr marL="0" indent="0">
              <a:buNone/>
            </a:pPr>
            <a:r>
              <a:rPr lang="en-US" dirty="0"/>
              <a:t>Next Year</a:t>
            </a:r>
          </a:p>
        </p:txBody>
      </p:sp>
      <p:pic>
        <p:nvPicPr>
          <p:cNvPr id="3" name="Picture 2" descr="A graph of different colored bars&#10;&#10;AI-generated content may be incorrect.">
            <a:extLst>
              <a:ext uri="{FF2B5EF4-FFF2-40B4-BE49-F238E27FC236}">
                <a16:creationId xmlns:a16="http://schemas.microsoft.com/office/drawing/2014/main" id="{366A3EDE-3420-9833-7B5B-04BB287A5603}"/>
              </a:ext>
            </a:extLst>
          </p:cNvPr>
          <p:cNvPicPr>
            <a:picLocks noChangeAspect="1"/>
          </p:cNvPicPr>
          <p:nvPr/>
        </p:nvPicPr>
        <p:blipFill>
          <a:blip r:embed="rId3"/>
          <a:stretch>
            <a:fillRect/>
          </a:stretch>
        </p:blipFill>
        <p:spPr>
          <a:xfrm>
            <a:off x="833718" y="2333905"/>
            <a:ext cx="5325036" cy="3826248"/>
          </a:xfrm>
          <a:prstGeom prst="rect">
            <a:avLst/>
          </a:prstGeom>
        </p:spPr>
      </p:pic>
      <p:pic>
        <p:nvPicPr>
          <p:cNvPr id="4" name="Picture 3" descr="A graph of different colored bars&#10;&#10;AI-generated content may be incorrect.">
            <a:extLst>
              <a:ext uri="{FF2B5EF4-FFF2-40B4-BE49-F238E27FC236}">
                <a16:creationId xmlns:a16="http://schemas.microsoft.com/office/drawing/2014/main" id="{F0A54ACE-D8DB-491B-FC27-7EE1AFDB0A26}"/>
              </a:ext>
            </a:extLst>
          </p:cNvPr>
          <p:cNvPicPr>
            <a:picLocks noChangeAspect="1"/>
          </p:cNvPicPr>
          <p:nvPr/>
        </p:nvPicPr>
        <p:blipFill>
          <a:blip r:embed="rId4"/>
          <a:stretch>
            <a:fillRect/>
          </a:stretch>
        </p:blipFill>
        <p:spPr>
          <a:xfrm>
            <a:off x="6173321" y="2332504"/>
            <a:ext cx="5179360" cy="3829050"/>
          </a:xfrm>
          <a:prstGeom prst="rect">
            <a:avLst/>
          </a:prstGeom>
        </p:spPr>
      </p:pic>
    </p:spTree>
    <p:custDataLst>
      <p:tags r:id="rId1"/>
    </p:custDataLst>
    <p:extLst>
      <p:ext uri="{BB962C8B-B14F-4D97-AF65-F5344CB8AC3E}">
        <p14:creationId xmlns:p14="http://schemas.microsoft.com/office/powerpoint/2010/main" val="3684467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BF14-48B4-018D-63EE-DF24A5A8CF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444DA4-C4B2-2A92-8A96-C527D8D026A7}"/>
              </a:ext>
            </a:extLst>
          </p:cNvPr>
          <p:cNvSpPr>
            <a:spLocks noGrp="1"/>
          </p:cNvSpPr>
          <p:nvPr>
            <p:ph type="title"/>
          </p:nvPr>
        </p:nvSpPr>
        <p:spPr>
          <a:xfrm>
            <a:off x="838200" y="365125"/>
            <a:ext cx="10515600" cy="1325563"/>
          </a:xfrm>
        </p:spPr>
        <p:txBody>
          <a:bodyPr>
            <a:normAutofit/>
          </a:bodyPr>
          <a:lstStyle/>
          <a:p>
            <a:r>
              <a:rPr lang="en-US" sz="2800" dirty="0"/>
              <a:t>PROGRAMMING LANGUAGE TRENDS - FINDINGS &amp; IMPLICATIONS</a:t>
            </a:r>
          </a:p>
        </p:txBody>
      </p:sp>
      <p:sp>
        <p:nvSpPr>
          <p:cNvPr id="3" name="Content Placeholder 2">
            <a:extLst>
              <a:ext uri="{FF2B5EF4-FFF2-40B4-BE49-F238E27FC236}">
                <a16:creationId xmlns:a16="http://schemas.microsoft.com/office/drawing/2014/main" id="{0E85DDBB-31B7-4F81-1E76-90009348F1DE}"/>
              </a:ext>
            </a:extLst>
          </p:cNvPr>
          <p:cNvSpPr>
            <a:spLocks noGrp="1"/>
          </p:cNvSpPr>
          <p:nvPr>
            <p:ph sz="half" idx="1"/>
          </p:nvPr>
        </p:nvSpPr>
        <p:spPr>
          <a:xfrm>
            <a:off x="813816" y="1825625"/>
            <a:ext cx="5181600" cy="4351338"/>
          </a:xfrm>
        </p:spPr>
        <p:txBody>
          <a:bodyPr vert="horz" lIns="91440" tIns="45720" rIns="91440" bIns="45720" rtlCol="0" anchor="t">
            <a:normAutofit lnSpcReduction="10000"/>
          </a:bodyPr>
          <a:lstStyle/>
          <a:p>
            <a:pPr marL="0" indent="0">
              <a:buNone/>
            </a:pPr>
            <a:r>
              <a:rPr lang="en-US" dirty="0">
                <a:latin typeface="IBM Plex Sans"/>
              </a:rPr>
              <a:t>Findings</a:t>
            </a:r>
          </a:p>
          <a:p>
            <a:r>
              <a:rPr lang="en-US" sz="2000" dirty="0">
                <a:latin typeface="IBM Plex Sans"/>
              </a:rPr>
              <a:t>Dominance of Core Languages Confirmed: JavaScript and Python</a:t>
            </a:r>
            <a:endParaRPr lang="en-US" sz="2000"/>
          </a:p>
          <a:p>
            <a:r>
              <a:rPr lang="en-US" sz="2000" dirty="0">
                <a:latin typeface="IBM Plex Sans"/>
              </a:rPr>
              <a:t>Major Shift to Performance &amp; Systems: The fastest-growing languages in terms of future desire are Go and Rust</a:t>
            </a:r>
            <a:endParaRPr lang="en-US" sz="2000"/>
          </a:p>
          <a:p>
            <a:r>
              <a:rPr lang="en-US" sz="2000" dirty="0">
                <a:latin typeface="IBM Plex Sans"/>
              </a:rPr>
              <a:t>Decreased Interest in Legacy Enterprise: PHP and C#.</a:t>
            </a:r>
            <a:endParaRPr lang="en-US" sz="2000" dirty="0"/>
          </a:p>
        </p:txBody>
      </p:sp>
      <p:sp>
        <p:nvSpPr>
          <p:cNvPr id="4" name="Content Placeholder 3">
            <a:extLst>
              <a:ext uri="{FF2B5EF4-FFF2-40B4-BE49-F238E27FC236}">
                <a16:creationId xmlns:a16="http://schemas.microsoft.com/office/drawing/2014/main" id="{D2166E7F-5223-7C98-EBC0-E8FA35940F98}"/>
              </a:ext>
            </a:extLst>
          </p:cNvPr>
          <p:cNvSpPr>
            <a:spLocks noGrp="1"/>
          </p:cNvSpPr>
          <p:nvPr>
            <p:ph sz="half" idx="2"/>
          </p:nvPr>
        </p:nvSpPr>
        <p:spPr>
          <a:xfrm>
            <a:off x="6172200" y="1825625"/>
            <a:ext cx="5181600" cy="4351338"/>
          </a:xfrm>
        </p:spPr>
        <p:txBody>
          <a:bodyPr vert="horz" lIns="91440" tIns="45720" rIns="91440" bIns="45720" rtlCol="0" anchor="t">
            <a:normAutofit lnSpcReduction="10000"/>
          </a:bodyPr>
          <a:lstStyle/>
          <a:p>
            <a:pPr marL="0" indent="0">
              <a:buNone/>
            </a:pPr>
            <a:r>
              <a:rPr lang="en-US" dirty="0">
                <a:latin typeface="IBM Plex Sans"/>
              </a:rPr>
              <a:t>Implications</a:t>
            </a:r>
          </a:p>
          <a:p>
            <a:r>
              <a:rPr lang="en-US" sz="2000" dirty="0">
                <a:latin typeface="IBM Plex Sans"/>
              </a:rPr>
              <a:t>Strategic Upskilling Investment: Companies should strategically reallocate training budgets to focus heavily on Python (for AI/ML projects) and TypeScript (for scalable web development)</a:t>
            </a:r>
            <a:endParaRPr lang="en-US" sz="2000"/>
          </a:p>
          <a:p>
            <a:r>
              <a:rPr lang="en-US" sz="2000" dirty="0">
                <a:latin typeface="IBM Plex Sans"/>
              </a:rPr>
              <a:t>Aggressive Recruitment for Niche Skills: Begin actively recruiting engineers proficient in Go and Rust immediately.</a:t>
            </a:r>
            <a:endParaRPr lang="en-US" sz="2000" dirty="0"/>
          </a:p>
          <a:p>
            <a:r>
              <a:rPr lang="en-US" sz="2000" dirty="0">
                <a:latin typeface="IBM Plex Sans"/>
              </a:rPr>
              <a:t>Evaluate Technology Debt: Flag internal systems running on languages showing declining future interest (like PHP or older Java/C# versions) for technology modernization assessments.</a:t>
            </a:r>
            <a:endParaRPr lang="en-US" sz="2000"/>
          </a:p>
        </p:txBody>
      </p:sp>
    </p:spTree>
    <p:custDataLst>
      <p:tags r:id="rId1"/>
    </p:custDataLst>
    <p:extLst>
      <p:ext uri="{BB962C8B-B14F-4D97-AF65-F5344CB8AC3E}">
        <p14:creationId xmlns:p14="http://schemas.microsoft.com/office/powerpoint/2010/main" val="3701288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0F35-C02C-0C12-3664-049CAC5AFA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0B430B-2D6C-26E3-5D00-4D061A250E06}"/>
              </a:ext>
            </a:extLst>
          </p:cNvPr>
          <p:cNvSpPr>
            <a:spLocks noGrp="1"/>
          </p:cNvSpPr>
          <p:nvPr>
            <p:ph type="title"/>
          </p:nvPr>
        </p:nvSpPr>
        <p:spPr>
          <a:xfrm>
            <a:off x="862584" y="428768"/>
            <a:ext cx="10515600" cy="1325563"/>
          </a:xfrm>
        </p:spPr>
        <p:txBody>
          <a:bodyPr/>
          <a:lstStyle/>
          <a:p>
            <a:r>
              <a:rPr lang="en-US" dirty="0"/>
              <a:t>DATABASE TRENDS</a:t>
            </a:r>
          </a:p>
        </p:txBody>
      </p:sp>
      <p:sp>
        <p:nvSpPr>
          <p:cNvPr id="3" name="Content Placeholder 2">
            <a:extLst>
              <a:ext uri="{FF2B5EF4-FFF2-40B4-BE49-F238E27FC236}">
                <a16:creationId xmlns:a16="http://schemas.microsoft.com/office/drawing/2014/main" id="{6C2B3FA5-2985-EAFB-8885-6820D4058AF4}"/>
              </a:ext>
            </a:extLst>
          </p:cNvPr>
          <p:cNvSpPr>
            <a:spLocks noGrp="1"/>
          </p:cNvSpPr>
          <p:nvPr>
            <p:ph sz="half" idx="1"/>
          </p:nvPr>
        </p:nvSpPr>
        <p:spPr>
          <a:xfrm>
            <a:off x="813816" y="1825625"/>
            <a:ext cx="2228642" cy="501939"/>
          </a:xfrm>
        </p:spPr>
        <p:txBody>
          <a:bodyPr/>
          <a:lstStyle/>
          <a:p>
            <a:pPr marL="0" indent="0">
              <a:buNone/>
            </a:pPr>
            <a:r>
              <a:rPr lang="en-US" dirty="0"/>
              <a:t>Current Year</a:t>
            </a:r>
          </a:p>
        </p:txBody>
      </p:sp>
      <p:sp>
        <p:nvSpPr>
          <p:cNvPr id="4" name="Content Placeholder 3">
            <a:extLst>
              <a:ext uri="{FF2B5EF4-FFF2-40B4-BE49-F238E27FC236}">
                <a16:creationId xmlns:a16="http://schemas.microsoft.com/office/drawing/2014/main" id="{30E0AA0B-A66B-F896-65D9-69DDA700D8E7}"/>
              </a:ext>
            </a:extLst>
          </p:cNvPr>
          <p:cNvSpPr>
            <a:spLocks noGrp="1"/>
          </p:cNvSpPr>
          <p:nvPr>
            <p:ph sz="half" idx="2"/>
          </p:nvPr>
        </p:nvSpPr>
        <p:spPr>
          <a:xfrm>
            <a:off x="6172200" y="1825625"/>
            <a:ext cx="1758142" cy="501939"/>
          </a:xfrm>
        </p:spPr>
        <p:txBody>
          <a:bodyPr/>
          <a:lstStyle/>
          <a:p>
            <a:pPr marL="0" indent="0">
              <a:buNone/>
            </a:pPr>
            <a:r>
              <a:rPr lang="en-US" dirty="0"/>
              <a:t>Next Year</a:t>
            </a:r>
          </a:p>
        </p:txBody>
      </p:sp>
      <p:pic>
        <p:nvPicPr>
          <p:cNvPr id="7" name="Picture 6" descr="A graph of different colored bars&#10;&#10;AI-generated content may be incorrect.">
            <a:extLst>
              <a:ext uri="{FF2B5EF4-FFF2-40B4-BE49-F238E27FC236}">
                <a16:creationId xmlns:a16="http://schemas.microsoft.com/office/drawing/2014/main" id="{54CDB0E0-83EF-7734-2BE5-B42A32BE03B4}"/>
              </a:ext>
            </a:extLst>
          </p:cNvPr>
          <p:cNvPicPr>
            <a:picLocks noChangeAspect="1"/>
          </p:cNvPicPr>
          <p:nvPr/>
        </p:nvPicPr>
        <p:blipFill>
          <a:blip r:embed="rId3"/>
          <a:stretch>
            <a:fillRect/>
          </a:stretch>
        </p:blipFill>
        <p:spPr>
          <a:xfrm>
            <a:off x="833717" y="2333905"/>
            <a:ext cx="5168154" cy="3826248"/>
          </a:xfrm>
          <a:prstGeom prst="rect">
            <a:avLst/>
          </a:prstGeom>
        </p:spPr>
      </p:pic>
      <p:pic>
        <p:nvPicPr>
          <p:cNvPr id="8" name="Picture 7" descr="A graph of columns with different colored bars&#10;&#10;AI-generated content may be incorrect.">
            <a:extLst>
              <a:ext uri="{FF2B5EF4-FFF2-40B4-BE49-F238E27FC236}">
                <a16:creationId xmlns:a16="http://schemas.microsoft.com/office/drawing/2014/main" id="{7DC7675A-7067-8892-2DB5-E8936861CFD3}"/>
              </a:ext>
            </a:extLst>
          </p:cNvPr>
          <p:cNvPicPr>
            <a:picLocks noChangeAspect="1"/>
          </p:cNvPicPr>
          <p:nvPr/>
        </p:nvPicPr>
        <p:blipFill>
          <a:blip r:embed="rId4"/>
          <a:stretch>
            <a:fillRect/>
          </a:stretch>
        </p:blipFill>
        <p:spPr>
          <a:xfrm>
            <a:off x="6118694" y="2333906"/>
            <a:ext cx="5725645" cy="3826249"/>
          </a:xfrm>
          <a:prstGeom prst="rect">
            <a:avLst/>
          </a:prstGeom>
        </p:spPr>
      </p:pic>
    </p:spTree>
    <p:custDataLst>
      <p:tags r:id="rId1"/>
    </p:custDataLst>
    <p:extLst>
      <p:ext uri="{BB962C8B-B14F-4D97-AF65-F5344CB8AC3E}">
        <p14:creationId xmlns:p14="http://schemas.microsoft.com/office/powerpoint/2010/main" val="1502887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A6A9C-70D0-119E-38BE-1738DA5AD3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797E2B-01DB-9C21-4CF2-1586AB1C34C4}"/>
              </a:ext>
            </a:extLst>
          </p:cNvPr>
          <p:cNvSpPr>
            <a:spLocks noGrp="1"/>
          </p:cNvSpPr>
          <p:nvPr>
            <p:ph type="title"/>
          </p:nvPr>
        </p:nvSpPr>
        <p:spPr>
          <a:xfrm>
            <a:off x="48985" y="365125"/>
            <a:ext cx="12094029" cy="1325563"/>
          </a:xfrm>
        </p:spPr>
        <p:txBody>
          <a:bodyPr/>
          <a:lstStyle/>
          <a:p>
            <a:r>
              <a:rPr lang="en-US" dirty="0"/>
              <a:t>DATABASE TRENDS - FINDINGS &amp; IMPLICATIONS</a:t>
            </a:r>
          </a:p>
        </p:txBody>
      </p:sp>
      <p:sp>
        <p:nvSpPr>
          <p:cNvPr id="3" name="Content Placeholder 2">
            <a:extLst>
              <a:ext uri="{FF2B5EF4-FFF2-40B4-BE49-F238E27FC236}">
                <a16:creationId xmlns:a16="http://schemas.microsoft.com/office/drawing/2014/main" id="{F73EC42F-75A2-FA08-F2B6-EB2817BBF83F}"/>
              </a:ext>
            </a:extLst>
          </p:cNvPr>
          <p:cNvSpPr>
            <a:spLocks noGrp="1"/>
          </p:cNvSpPr>
          <p:nvPr>
            <p:ph sz="half" idx="1"/>
          </p:nvPr>
        </p:nvSpPr>
        <p:spPr>
          <a:xfrm>
            <a:off x="813816" y="1825625"/>
            <a:ext cx="5181600" cy="4351338"/>
          </a:xfrm>
        </p:spPr>
        <p:txBody>
          <a:bodyPr vert="horz" lIns="91440" tIns="45720" rIns="91440" bIns="45720" rtlCol="0" anchor="t">
            <a:normAutofit fontScale="92500" lnSpcReduction="10000"/>
          </a:bodyPr>
          <a:lstStyle/>
          <a:p>
            <a:pPr marL="0" indent="0">
              <a:buNone/>
            </a:pPr>
            <a:r>
              <a:rPr lang="en-US" dirty="0">
                <a:latin typeface="IBM Plex Sans"/>
              </a:rPr>
              <a:t>Findings</a:t>
            </a:r>
          </a:p>
          <a:p>
            <a:r>
              <a:rPr lang="en-US" sz="2000" b="1" dirty="0">
                <a:latin typeface="IBM Plex Sans"/>
              </a:rPr>
              <a:t>PostgreSQL is the New Relational Standard:</a:t>
            </a:r>
            <a:r>
              <a:rPr lang="en-US" sz="2000" dirty="0">
                <a:latin typeface="IBM Plex Sans"/>
              </a:rPr>
              <a:t> </a:t>
            </a:r>
            <a:r>
              <a:rPr lang="en-US" sz="2000" b="1" dirty="0">
                <a:latin typeface="IBM Plex Sans"/>
              </a:rPr>
              <a:t>PostgreSQL</a:t>
            </a:r>
            <a:r>
              <a:rPr lang="en-US" sz="2000" dirty="0">
                <a:latin typeface="IBM Plex Sans"/>
              </a:rPr>
              <a:t> holds the </a:t>
            </a:r>
            <a:r>
              <a:rPr lang="en-US" sz="2000" b="1" dirty="0">
                <a:latin typeface="IBM Plex Sans"/>
              </a:rPr>
              <a:t>#1 spot</a:t>
            </a:r>
            <a:r>
              <a:rPr lang="en-US" sz="2000" dirty="0">
                <a:latin typeface="IBM Plex Sans"/>
              </a:rPr>
              <a:t> in both current usage and future demand, surpassing MySQL and MS SQL Server in </a:t>
            </a:r>
            <a:r>
              <a:rPr lang="en-US" sz="2000">
                <a:latin typeface="IBM Plex Sans"/>
              </a:rPr>
              <a:t>developer preference. </a:t>
            </a:r>
            <a:endParaRPr lang="en-US" sz="2000"/>
          </a:p>
          <a:p>
            <a:r>
              <a:rPr lang="en-US" sz="2000" b="1">
                <a:latin typeface="IBM Plex Sans"/>
              </a:rPr>
              <a:t>Redis Highlights Performance Priority:</a:t>
            </a:r>
            <a:r>
              <a:rPr lang="en-US" sz="2000" dirty="0">
                <a:latin typeface="IBM Plex Sans"/>
              </a:rPr>
              <a:t> </a:t>
            </a:r>
            <a:r>
              <a:rPr lang="en-US" sz="2000" b="1">
                <a:latin typeface="IBM Plex Sans"/>
              </a:rPr>
              <a:t>Redis</a:t>
            </a:r>
            <a:r>
              <a:rPr lang="en-US" sz="2000">
                <a:latin typeface="IBM Plex Sans"/>
              </a:rPr>
              <a:t>, a high-speed, in-memory data store, ranks highly in future demand. </a:t>
            </a:r>
            <a:endParaRPr lang="en-US"/>
          </a:p>
          <a:p>
            <a:r>
              <a:rPr lang="en-US" sz="2000" b="1" dirty="0">
                <a:latin typeface="IBM Plex Sans"/>
              </a:rPr>
              <a:t>Traditional RDBMS Stability:</a:t>
            </a:r>
            <a:r>
              <a:rPr lang="en-US" sz="2000" dirty="0">
                <a:latin typeface="IBM Plex Sans"/>
              </a:rPr>
              <a:t> Despite the rise of NoSQL, the core relational database concept is stable. </a:t>
            </a:r>
            <a:r>
              <a:rPr lang="en-US" sz="2000" b="1" dirty="0">
                <a:latin typeface="IBM Plex Sans"/>
              </a:rPr>
              <a:t>SQL</a:t>
            </a:r>
            <a:r>
              <a:rPr lang="en-US" sz="2000" dirty="0">
                <a:latin typeface="IBM Plex Sans"/>
              </a:rPr>
              <a:t> skills remain foundational, as the top databases (PostgreSQL, MySQL, SQL Server) all rely on the Structured Query Language.</a:t>
            </a:r>
          </a:p>
        </p:txBody>
      </p:sp>
      <p:sp>
        <p:nvSpPr>
          <p:cNvPr id="4" name="Content Placeholder 3">
            <a:extLst>
              <a:ext uri="{FF2B5EF4-FFF2-40B4-BE49-F238E27FC236}">
                <a16:creationId xmlns:a16="http://schemas.microsoft.com/office/drawing/2014/main" id="{D327B10A-E9C3-5B71-0345-782E28BDB37C}"/>
              </a:ext>
            </a:extLst>
          </p:cNvPr>
          <p:cNvSpPr>
            <a:spLocks noGrp="1"/>
          </p:cNvSpPr>
          <p:nvPr>
            <p:ph sz="half" idx="2"/>
          </p:nvPr>
        </p:nvSpPr>
        <p:spPr>
          <a:xfrm>
            <a:off x="6172200" y="1825625"/>
            <a:ext cx="5181600" cy="4351338"/>
          </a:xfrm>
        </p:spPr>
        <p:txBody>
          <a:bodyPr vert="horz" lIns="91440" tIns="45720" rIns="91440" bIns="45720" rtlCol="0" anchor="t">
            <a:normAutofit fontScale="92500" lnSpcReduction="10000"/>
          </a:bodyPr>
          <a:lstStyle/>
          <a:p>
            <a:pPr marL="0" indent="0">
              <a:buNone/>
            </a:pPr>
            <a:r>
              <a:rPr lang="en-US" dirty="0">
                <a:latin typeface="IBM Plex Sans"/>
              </a:rPr>
              <a:t>Implications</a:t>
            </a:r>
          </a:p>
          <a:p>
            <a:r>
              <a:rPr lang="en-US" sz="2000" b="1" dirty="0">
                <a:latin typeface="IBM Plex Sans"/>
              </a:rPr>
              <a:t>Invest in Hybrid Data Architectures:</a:t>
            </a:r>
            <a:r>
              <a:rPr lang="en-US" sz="2000" dirty="0">
                <a:latin typeface="IBM Plex Sans"/>
              </a:rPr>
              <a:t> To handle diverse modern data (structured, unstructured, real-time), allocate resources to train teams in </a:t>
            </a:r>
            <a:r>
              <a:rPr lang="en-US" sz="2000" b="1" dirty="0">
                <a:latin typeface="IBM Plex Sans"/>
              </a:rPr>
              <a:t>MongoDB</a:t>
            </a:r>
            <a:r>
              <a:rPr lang="en-US" sz="2000" dirty="0">
                <a:latin typeface="IBM Plex Sans"/>
              </a:rPr>
              <a:t> for unstructured data persistence and </a:t>
            </a:r>
            <a:r>
              <a:rPr lang="en-US" sz="2000" b="1" dirty="0">
                <a:latin typeface="IBM Plex Sans"/>
              </a:rPr>
              <a:t>Redis</a:t>
            </a:r>
            <a:r>
              <a:rPr lang="en-US" sz="2000" dirty="0">
                <a:latin typeface="IBM Plex Sans"/>
              </a:rPr>
              <a:t> for optimizing application speed and session management.</a:t>
            </a:r>
          </a:p>
          <a:p>
            <a:r>
              <a:rPr lang="en-US" sz="2000" b="1" dirty="0">
                <a:latin typeface="IBM Plex Sans"/>
              </a:rPr>
              <a:t>Standardize on PostgreSQL:</a:t>
            </a:r>
            <a:r>
              <a:rPr lang="en-US" sz="2000" dirty="0">
                <a:latin typeface="IBM Plex Sans"/>
              </a:rPr>
              <a:t> Organizations should mandate </a:t>
            </a:r>
            <a:r>
              <a:rPr lang="en-US" sz="2000" b="1" dirty="0">
                <a:latin typeface="IBM Plex Sans"/>
              </a:rPr>
              <a:t>PostgreSQL</a:t>
            </a:r>
            <a:r>
              <a:rPr lang="en-US" sz="2000" dirty="0">
                <a:latin typeface="IBM Plex Sans"/>
              </a:rPr>
              <a:t> for all new projects requiring relational data consistency. This aligns technology stack with developer talent and minimizes long-term risks associated with proprietary licensing or declining platforms.</a:t>
            </a:r>
          </a:p>
        </p:txBody>
      </p:sp>
    </p:spTree>
    <p:custDataLst>
      <p:tags r:id="rId1"/>
    </p:custDataLst>
    <p:extLst>
      <p:ext uri="{BB962C8B-B14F-4D97-AF65-F5344CB8AC3E}">
        <p14:creationId xmlns:p14="http://schemas.microsoft.com/office/powerpoint/2010/main" val="3188125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8291F-E27C-74F8-33D3-FF131FC9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B7D73-872E-CFE8-1C38-8422F383863C}"/>
              </a:ext>
            </a:extLst>
          </p:cNvPr>
          <p:cNvSpPr>
            <a:spLocks noGrp="1"/>
          </p:cNvSpPr>
          <p:nvPr>
            <p:ph type="title"/>
          </p:nvPr>
        </p:nvSpPr>
        <p:spPr>
          <a:xfrm>
            <a:off x="838200" y="365125"/>
            <a:ext cx="10515600" cy="1325563"/>
          </a:xfrm>
        </p:spPr>
        <p:txBody>
          <a:bodyPr anchor="ctr">
            <a:normAutofit/>
          </a:bodyPr>
          <a:lstStyle/>
          <a:p>
            <a:r>
              <a:rPr lang="en-US" dirty="0"/>
              <a:t>DASHBOARD</a:t>
            </a:r>
          </a:p>
        </p:txBody>
      </p:sp>
      <p:sp>
        <p:nvSpPr>
          <p:cNvPr id="3" name="Content Placeholder 2">
            <a:extLst>
              <a:ext uri="{FF2B5EF4-FFF2-40B4-BE49-F238E27FC236}">
                <a16:creationId xmlns:a16="http://schemas.microsoft.com/office/drawing/2014/main" id="{25C64183-B387-01E7-21BA-4DA6B1F51815}"/>
              </a:ext>
            </a:extLst>
          </p:cNvPr>
          <p:cNvSpPr txBox="1">
            <a:spLocks/>
          </p:cNvSpPr>
          <p:nvPr/>
        </p:nvSpPr>
        <p:spPr>
          <a:xfrm>
            <a:off x="4285075" y="1719063"/>
            <a:ext cx="7068725" cy="422770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457200" indent="-457200">
              <a:buAutoNum type="arabicPeriod"/>
            </a:pPr>
            <a:r>
              <a:rPr lang="en-US" sz="2200" dirty="0">
                <a:latin typeface="IBM Plex Sans"/>
              </a:rPr>
              <a:t>Current Technology - </a:t>
            </a:r>
            <a:r>
              <a:rPr lang="en-US" sz="2200" dirty="0">
                <a:latin typeface="IBM Plex Sans"/>
                <a:hlinkClick r:id="rId3"/>
              </a:rPr>
              <a:t>https://github.com/mohanccse/Capstone_Project_Repo/blob/57c10c1f41e00f138155553ee3a4be5627248024/Current_Technology_Usage.pdf</a:t>
            </a:r>
            <a:endParaRPr lang="en-US"/>
          </a:p>
          <a:p>
            <a:pPr marL="457200" indent="-457200">
              <a:buAutoNum type="arabicPeriod"/>
            </a:pPr>
            <a:r>
              <a:rPr lang="en-US" sz="2200" dirty="0">
                <a:latin typeface="IBM Plex Sans"/>
              </a:rPr>
              <a:t>Future Technology - </a:t>
            </a:r>
            <a:r>
              <a:rPr lang="en-US" sz="2200" dirty="0">
                <a:latin typeface="IBM Plex Sans"/>
                <a:hlinkClick r:id="rId4"/>
              </a:rPr>
              <a:t>https://github.com/mohanccse/Capstone_Project_Repo/blob/57c10c1f41e00f138155553ee3a4be5627248024/Future_Technology_Trends.pdf</a:t>
            </a:r>
            <a:endParaRPr lang="en-US" sz="2200" dirty="0"/>
          </a:p>
          <a:p>
            <a:pPr marL="457200" indent="-457200">
              <a:buAutoNum type="arabicPeriod"/>
            </a:pPr>
            <a:r>
              <a:rPr lang="en-US" sz="2200" dirty="0">
                <a:latin typeface="IBM Plex Sans"/>
              </a:rPr>
              <a:t>Demographics - </a:t>
            </a:r>
            <a:r>
              <a:rPr lang="en-US" sz="2200" dirty="0">
                <a:latin typeface="IBM Plex Sans"/>
                <a:hlinkClick r:id="rId5"/>
              </a:rPr>
              <a:t>https://github.com/mohanccse/Capstone_Project_Repo/blob/57c10c1f41e00f138155553ee3a4be5627248024/Demographics.pdf</a:t>
            </a:r>
            <a:endParaRPr lang="en-US" sz="2200">
              <a:solidFill>
                <a:schemeClr val="bg1"/>
              </a:solidFill>
            </a:endParaRPr>
          </a:p>
          <a:p>
            <a:pPr marL="457200" indent="-457200">
              <a:buAutoNum type="arabicPeriod"/>
            </a:pPr>
            <a:endParaRPr lang="en-US" sz="2200" dirty="0"/>
          </a:p>
        </p:txBody>
      </p:sp>
      <p:pic>
        <p:nvPicPr>
          <p:cNvPr id="4" name="Picture 3">
            <a:extLst>
              <a:ext uri="{FF2B5EF4-FFF2-40B4-BE49-F238E27FC236}">
                <a16:creationId xmlns:a16="http://schemas.microsoft.com/office/drawing/2014/main" id="{A79822F7-4A79-5E92-9C6D-8A9769182E2E}"/>
              </a:ext>
            </a:extLst>
          </p:cNvPr>
          <p:cNvPicPr>
            <a:picLocks noChangeAspect="1"/>
          </p:cNvPicPr>
          <p:nvPr/>
        </p:nvPicPr>
        <p:blipFill>
          <a:blip r:embed="rId6"/>
          <a:stretch>
            <a:fillRect/>
          </a:stretch>
        </p:blipFill>
        <p:spPr>
          <a:xfrm>
            <a:off x="1077475" y="1901819"/>
            <a:ext cx="3054361" cy="3054361"/>
          </a:xfrm>
          <a:prstGeom prst="rect">
            <a:avLst/>
          </a:prstGeom>
        </p:spPr>
      </p:pic>
    </p:spTree>
    <p:custDataLst>
      <p:tags r:id="rId1"/>
    </p:custDataLst>
    <p:extLst>
      <p:ext uri="{BB962C8B-B14F-4D97-AF65-F5344CB8AC3E}">
        <p14:creationId xmlns:p14="http://schemas.microsoft.com/office/powerpoint/2010/main" val="175219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F0CA-55D1-0835-20D4-03D017A1D5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393914-A678-A34E-C52A-16D0ADAA25AF}"/>
              </a:ext>
            </a:extLst>
          </p:cNvPr>
          <p:cNvSpPr>
            <a:spLocks noGrp="1"/>
          </p:cNvSpPr>
          <p:nvPr>
            <p:ph type="title"/>
          </p:nvPr>
        </p:nvSpPr>
        <p:spPr>
          <a:xfrm>
            <a:off x="838200" y="365125"/>
            <a:ext cx="10515600" cy="1325563"/>
          </a:xfrm>
        </p:spPr>
        <p:txBody>
          <a:bodyPr anchor="ctr">
            <a:normAutofit/>
          </a:bodyPr>
          <a:lstStyle/>
          <a:p>
            <a:r>
              <a:rPr lang="en-US" dirty="0"/>
              <a:t>DASHBOARD TAB 1</a:t>
            </a:r>
          </a:p>
        </p:txBody>
      </p:sp>
      <p:sp>
        <p:nvSpPr>
          <p:cNvPr id="3" name="Content Placeholder 2">
            <a:extLst>
              <a:ext uri="{FF2B5EF4-FFF2-40B4-BE49-F238E27FC236}">
                <a16:creationId xmlns:a16="http://schemas.microsoft.com/office/drawing/2014/main" id="{B396FB03-F857-3EC0-249E-AE03F391502E}"/>
              </a:ext>
            </a:extLst>
          </p:cNvPr>
          <p:cNvSpPr>
            <a:spLocks noGrp="1"/>
          </p:cNvSpPr>
          <p:nvPr>
            <p:ph idx="1"/>
          </p:nvPr>
        </p:nvSpPr>
        <p:spPr>
          <a:xfrm>
            <a:off x="838200" y="1690688"/>
            <a:ext cx="10515600" cy="4351338"/>
          </a:xfrm>
        </p:spPr>
        <p:txBody>
          <a:bodyPr vert="horz" lIns="91440" tIns="45720" rIns="91440" bIns="45720" rtlCol="0" anchor="t">
            <a:normAutofit/>
          </a:bodyPr>
          <a:lstStyle/>
          <a:p>
            <a:pPr marL="0" indent="0">
              <a:buNone/>
            </a:pPr>
            <a:endParaRPr lang="en-US" dirty="0"/>
          </a:p>
          <a:p>
            <a:pPr marL="0" indent="0">
              <a:buNone/>
            </a:pPr>
            <a:endParaRPr lang="en-US" dirty="0"/>
          </a:p>
          <a:p>
            <a:pPr marL="0" indent="0">
              <a:buNone/>
            </a:pPr>
            <a:endParaRPr lang="en-US" dirty="0"/>
          </a:p>
        </p:txBody>
      </p:sp>
      <p:pic>
        <p:nvPicPr>
          <p:cNvPr id="4" name="Picture 3" descr="A screenshot of a computer&#10;&#10;AI-generated content may be incorrect.">
            <a:extLst>
              <a:ext uri="{FF2B5EF4-FFF2-40B4-BE49-F238E27FC236}">
                <a16:creationId xmlns:a16="http://schemas.microsoft.com/office/drawing/2014/main" id="{305515B0-2FCF-45D4-A003-59CC5611463D}"/>
              </a:ext>
            </a:extLst>
          </p:cNvPr>
          <p:cNvPicPr>
            <a:picLocks noChangeAspect="1"/>
          </p:cNvPicPr>
          <p:nvPr/>
        </p:nvPicPr>
        <p:blipFill>
          <a:blip r:embed="rId3"/>
          <a:stretch>
            <a:fillRect/>
          </a:stretch>
        </p:blipFill>
        <p:spPr>
          <a:xfrm>
            <a:off x="1179498" y="1456764"/>
            <a:ext cx="9306329" cy="4874558"/>
          </a:xfrm>
          <a:prstGeom prst="rect">
            <a:avLst/>
          </a:prstGeom>
        </p:spPr>
      </p:pic>
    </p:spTree>
    <p:custDataLst>
      <p:tags r:id="rId1"/>
    </p:custDataLst>
    <p:extLst>
      <p:ext uri="{BB962C8B-B14F-4D97-AF65-F5344CB8AC3E}">
        <p14:creationId xmlns:p14="http://schemas.microsoft.com/office/powerpoint/2010/main" val="2429736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8F23D-B8D7-D0E4-EDC5-E0F023884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4F933A-3681-3D82-68EF-62EC07822DAD}"/>
              </a:ext>
            </a:extLst>
          </p:cNvPr>
          <p:cNvSpPr>
            <a:spLocks noGrp="1"/>
          </p:cNvSpPr>
          <p:nvPr>
            <p:ph type="title"/>
          </p:nvPr>
        </p:nvSpPr>
        <p:spPr>
          <a:xfrm>
            <a:off x="838200" y="365125"/>
            <a:ext cx="10515600" cy="1325563"/>
          </a:xfrm>
        </p:spPr>
        <p:txBody>
          <a:bodyPr anchor="ctr">
            <a:normAutofit/>
          </a:bodyPr>
          <a:lstStyle/>
          <a:p>
            <a:r>
              <a:rPr lang="en-US" dirty="0"/>
              <a:t>DASHBOARD TAB 2</a:t>
            </a:r>
          </a:p>
        </p:txBody>
      </p:sp>
      <p:sp>
        <p:nvSpPr>
          <p:cNvPr id="3" name="Content Placeholder 2">
            <a:extLst>
              <a:ext uri="{FF2B5EF4-FFF2-40B4-BE49-F238E27FC236}">
                <a16:creationId xmlns:a16="http://schemas.microsoft.com/office/drawing/2014/main" id="{73960BF9-AB8D-4916-3BC9-E2E92E0872BE}"/>
              </a:ext>
            </a:extLst>
          </p:cNvPr>
          <p:cNvSpPr>
            <a:spLocks noGrp="1"/>
          </p:cNvSpPr>
          <p:nvPr>
            <p:ph idx="1"/>
          </p:nvPr>
        </p:nvSpPr>
        <p:spPr>
          <a:xfrm>
            <a:off x="838200" y="1690688"/>
            <a:ext cx="10515600" cy="4351338"/>
          </a:xfrm>
        </p:spPr>
        <p:txBody>
          <a:bodyPr vert="horz" lIns="91440" tIns="45720" rIns="91440" bIns="45720" rtlCol="0" anchor="t">
            <a:normAutofit/>
          </a:bodyPr>
          <a:lstStyle/>
          <a:p>
            <a:pPr marL="0" indent="0">
              <a:buNone/>
            </a:pPr>
            <a:endParaRPr lang="en-US" dirty="0"/>
          </a:p>
          <a:p>
            <a:pPr marL="0" indent="0">
              <a:buNone/>
            </a:pPr>
            <a:endParaRPr lang="en-US" dirty="0"/>
          </a:p>
          <a:p>
            <a:pPr marL="0" indent="0">
              <a:buNone/>
            </a:pPr>
            <a:endParaRPr lang="en-US" dirty="0"/>
          </a:p>
        </p:txBody>
      </p:sp>
      <p:pic>
        <p:nvPicPr>
          <p:cNvPr id="4" name="Picture 3" descr="A screenshot of a computer&#10;&#10;AI-generated content may be incorrect.">
            <a:extLst>
              <a:ext uri="{FF2B5EF4-FFF2-40B4-BE49-F238E27FC236}">
                <a16:creationId xmlns:a16="http://schemas.microsoft.com/office/drawing/2014/main" id="{003EE624-5444-BDE6-BBF5-74752E8F4E6A}"/>
              </a:ext>
            </a:extLst>
          </p:cNvPr>
          <p:cNvPicPr>
            <a:picLocks noChangeAspect="1"/>
          </p:cNvPicPr>
          <p:nvPr/>
        </p:nvPicPr>
        <p:blipFill>
          <a:blip r:embed="rId3"/>
          <a:stretch>
            <a:fillRect/>
          </a:stretch>
        </p:blipFill>
        <p:spPr>
          <a:xfrm>
            <a:off x="845031" y="1411941"/>
            <a:ext cx="10401085" cy="4896972"/>
          </a:xfrm>
          <a:prstGeom prst="rect">
            <a:avLst/>
          </a:prstGeom>
        </p:spPr>
      </p:pic>
    </p:spTree>
    <p:custDataLst>
      <p:tags r:id="rId1"/>
    </p:custDataLst>
    <p:extLst>
      <p:ext uri="{BB962C8B-B14F-4D97-AF65-F5344CB8AC3E}">
        <p14:creationId xmlns:p14="http://schemas.microsoft.com/office/powerpoint/2010/main" val="20484966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A10D3-267F-7A90-5160-775BFEBCA6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2C0C82-5F1A-F7B1-2C56-5C08240C1647}"/>
              </a:ext>
            </a:extLst>
          </p:cNvPr>
          <p:cNvSpPr>
            <a:spLocks noGrp="1"/>
          </p:cNvSpPr>
          <p:nvPr>
            <p:ph type="title"/>
          </p:nvPr>
        </p:nvSpPr>
        <p:spPr>
          <a:xfrm>
            <a:off x="838200" y="365125"/>
            <a:ext cx="10515600" cy="1325563"/>
          </a:xfrm>
        </p:spPr>
        <p:txBody>
          <a:bodyPr anchor="ctr">
            <a:normAutofit/>
          </a:bodyPr>
          <a:lstStyle/>
          <a:p>
            <a:r>
              <a:rPr lang="en-US" dirty="0"/>
              <a:t>DASHBOARD TAB 3</a:t>
            </a:r>
          </a:p>
        </p:txBody>
      </p:sp>
      <p:sp>
        <p:nvSpPr>
          <p:cNvPr id="3" name="Content Placeholder 2">
            <a:extLst>
              <a:ext uri="{FF2B5EF4-FFF2-40B4-BE49-F238E27FC236}">
                <a16:creationId xmlns:a16="http://schemas.microsoft.com/office/drawing/2014/main" id="{84961A98-8DF3-E66E-19C4-7D7642551E90}"/>
              </a:ext>
            </a:extLst>
          </p:cNvPr>
          <p:cNvSpPr>
            <a:spLocks noGrp="1"/>
          </p:cNvSpPr>
          <p:nvPr>
            <p:ph idx="1"/>
          </p:nvPr>
        </p:nvSpPr>
        <p:spPr>
          <a:xfrm>
            <a:off x="838200" y="1690688"/>
            <a:ext cx="10515600" cy="4351338"/>
          </a:xfrm>
        </p:spPr>
        <p:txBody>
          <a:bodyPr vert="horz" lIns="91440" tIns="45720" rIns="91440" bIns="45720" rtlCol="0" anchor="t">
            <a:normAutofit/>
          </a:bodyPr>
          <a:lstStyle/>
          <a:p>
            <a:pPr marL="0" indent="0">
              <a:buNone/>
            </a:pPr>
            <a:endParaRPr lang="en-US" dirty="0"/>
          </a:p>
          <a:p>
            <a:pPr marL="0" indent="0">
              <a:buNone/>
            </a:pPr>
            <a:endParaRPr lang="en-US" dirty="0"/>
          </a:p>
          <a:p>
            <a:pPr marL="0" indent="0">
              <a:buNone/>
            </a:pPr>
            <a:endParaRPr lang="en-US" dirty="0"/>
          </a:p>
        </p:txBody>
      </p:sp>
      <p:pic>
        <p:nvPicPr>
          <p:cNvPr id="4" name="Picture 3" descr="A screenshot of a computer&#10;&#10;AI-generated content may be incorrect.">
            <a:extLst>
              <a:ext uri="{FF2B5EF4-FFF2-40B4-BE49-F238E27FC236}">
                <a16:creationId xmlns:a16="http://schemas.microsoft.com/office/drawing/2014/main" id="{763217A2-A2D9-DFA5-E3A6-1F787CD82469}"/>
              </a:ext>
            </a:extLst>
          </p:cNvPr>
          <p:cNvPicPr>
            <a:picLocks noChangeAspect="1"/>
          </p:cNvPicPr>
          <p:nvPr/>
        </p:nvPicPr>
        <p:blipFill>
          <a:blip r:embed="rId3"/>
          <a:stretch>
            <a:fillRect/>
          </a:stretch>
        </p:blipFill>
        <p:spPr>
          <a:xfrm>
            <a:off x="843322" y="1434352"/>
            <a:ext cx="10505357" cy="4818531"/>
          </a:xfrm>
          <a:prstGeom prst="rect">
            <a:avLst/>
          </a:prstGeom>
        </p:spPr>
      </p:pic>
    </p:spTree>
    <p:custDataLst>
      <p:tags r:id="rId1"/>
    </p:custDataLst>
    <p:extLst>
      <p:ext uri="{BB962C8B-B14F-4D97-AF65-F5344CB8AC3E}">
        <p14:creationId xmlns:p14="http://schemas.microsoft.com/office/powerpoint/2010/main" val="2405636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C0A-56EF-B349-A097-27B4D460D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298769-531F-C6A5-406F-D1C3D2805950}"/>
              </a:ext>
            </a:extLst>
          </p:cNvPr>
          <p:cNvSpPr>
            <a:spLocks noGrp="1"/>
          </p:cNvSpPr>
          <p:nvPr>
            <p:ph type="title"/>
          </p:nvPr>
        </p:nvSpPr>
        <p:spPr>
          <a:xfrm>
            <a:off x="838200" y="365125"/>
            <a:ext cx="10515600" cy="1325563"/>
          </a:xfrm>
        </p:spPr>
        <p:txBody>
          <a:bodyPr anchor="ctr">
            <a:normAutofit/>
          </a:bodyPr>
          <a:lstStyle/>
          <a:p>
            <a:r>
              <a:rPr lang="en-US" dirty="0"/>
              <a:t>DISCUSSION</a:t>
            </a:r>
          </a:p>
        </p:txBody>
      </p:sp>
      <p:pic>
        <p:nvPicPr>
          <p:cNvPr id="3" name="Content Placeholder 2">
            <a:extLst>
              <a:ext uri="{FF2B5EF4-FFF2-40B4-BE49-F238E27FC236}">
                <a16:creationId xmlns:a16="http://schemas.microsoft.com/office/drawing/2014/main" id="{1F45ECC1-C956-CADF-DDFD-F54C6608E401}"/>
              </a:ext>
            </a:extLst>
          </p:cNvPr>
          <p:cNvPicPr>
            <a:picLocks noGrp="1" noChangeAspect="1"/>
          </p:cNvPicPr>
          <p:nvPr>
            <p:ph sz="half" idx="1"/>
          </p:nvPr>
        </p:nvPicPr>
        <p:blipFill>
          <a:blip r:embed="rId3"/>
          <a:stretch>
            <a:fillRect/>
          </a:stretch>
        </p:blipFill>
        <p:spPr>
          <a:xfrm>
            <a:off x="1253331" y="1825625"/>
            <a:ext cx="4351338" cy="4351338"/>
          </a:xfrm>
          <a:prstGeom prst="rect">
            <a:avLst/>
          </a:prstGeom>
          <a:noFill/>
        </p:spPr>
      </p:pic>
      <p:sp>
        <p:nvSpPr>
          <p:cNvPr id="4" name="Content Placeholder 3">
            <a:extLst>
              <a:ext uri="{FF2B5EF4-FFF2-40B4-BE49-F238E27FC236}">
                <a16:creationId xmlns:a16="http://schemas.microsoft.com/office/drawing/2014/main" id="{0F67EF50-003F-6BB0-4367-42BB884C77A4}"/>
              </a:ext>
            </a:extLst>
          </p:cNvPr>
          <p:cNvSpPr>
            <a:spLocks noGrp="1"/>
          </p:cNvSpPr>
          <p:nvPr>
            <p:ph sz="half" idx="2"/>
          </p:nvPr>
        </p:nvSpPr>
        <p:spPr>
          <a:xfrm>
            <a:off x="6104965" y="1545478"/>
            <a:ext cx="5248835" cy="4631485"/>
          </a:xfrm>
        </p:spPr>
        <p:txBody>
          <a:bodyPr vert="horz" lIns="91440" tIns="45720" rIns="91440" bIns="45720" rtlCol="0" anchor="t">
            <a:normAutofit fontScale="55000" lnSpcReduction="20000"/>
          </a:bodyPr>
          <a:lstStyle/>
          <a:p>
            <a:r>
              <a:rPr lang="en-US" b="1" dirty="0">
                <a:latin typeface="IBM Plex Sans"/>
              </a:rPr>
              <a:t>Key Actionable Insights</a:t>
            </a:r>
            <a:endParaRPr lang="en-US" sz="2000" dirty="0">
              <a:latin typeface="IBM Plex Sans"/>
            </a:endParaRPr>
          </a:p>
          <a:p>
            <a:r>
              <a:rPr lang="en-US" sz="2000" b="1" dirty="0">
                <a:latin typeface="IBM Plex Sans"/>
              </a:rPr>
              <a:t>Youth Drives Disruptive Tech Adoption:</a:t>
            </a:r>
            <a:endParaRPr lang="en-US" dirty="0">
              <a:latin typeface="IBM Plex Sans"/>
            </a:endParaRPr>
          </a:p>
          <a:p>
            <a:pPr lvl="1"/>
            <a:r>
              <a:rPr lang="en-US" sz="2000" b="1">
                <a:latin typeface="IBM Plex Sans"/>
              </a:rPr>
              <a:t>Finding:</a:t>
            </a:r>
            <a:r>
              <a:rPr lang="en-US" sz="2000">
                <a:latin typeface="IBM Plex Sans"/>
              </a:rPr>
              <a:t> Filtering the Demographics tab shows that developers in the largest cohort (</a:t>
            </a:r>
            <a:r>
              <a:rPr lang="en-US" sz="2000" b="1">
                <a:latin typeface="IBM Plex Sans"/>
              </a:rPr>
              <a:t>25-34 years old</a:t>
            </a:r>
            <a:r>
              <a:rPr lang="en-US" sz="2000">
                <a:latin typeface="IBM Plex Sans"/>
              </a:rPr>
              <a:t>) exhibit a </a:t>
            </a:r>
            <a:r>
              <a:rPr lang="en-US" sz="2000" b="1">
                <a:latin typeface="IBM Plex Sans"/>
              </a:rPr>
              <a:t>20% higher relative desire</a:t>
            </a:r>
            <a:r>
              <a:rPr lang="en-US" sz="2000" dirty="0">
                <a:latin typeface="IBM Plex Sans"/>
              </a:rPr>
              <a:t> </a:t>
            </a:r>
            <a:r>
              <a:rPr lang="en-US" sz="2000">
                <a:latin typeface="IBM Plex Sans"/>
              </a:rPr>
              <a:t>for specialized emerging languages like </a:t>
            </a:r>
            <a:r>
              <a:rPr lang="en-US" sz="2000" b="1">
                <a:latin typeface="IBM Plex Sans"/>
              </a:rPr>
              <a:t>Rust</a:t>
            </a:r>
            <a:r>
              <a:rPr lang="en-US" sz="2000" dirty="0">
                <a:latin typeface="IBM Plex Sans"/>
              </a:rPr>
              <a:t> </a:t>
            </a:r>
            <a:r>
              <a:rPr lang="en-US" sz="2000">
                <a:latin typeface="IBM Plex Sans"/>
              </a:rPr>
              <a:t>and </a:t>
            </a:r>
            <a:r>
              <a:rPr lang="en-US" sz="2000" b="1">
                <a:latin typeface="IBM Plex Sans"/>
              </a:rPr>
              <a:t>Go</a:t>
            </a:r>
            <a:r>
              <a:rPr lang="en-US" sz="2000">
                <a:latin typeface="IBM Plex Sans"/>
              </a:rPr>
              <a:t> compared to older age groups.</a:t>
            </a:r>
            <a:endParaRPr lang="en-US">
              <a:latin typeface="IBM Plex Sans"/>
            </a:endParaRPr>
          </a:p>
          <a:p>
            <a:pPr lvl="1"/>
            <a:r>
              <a:rPr lang="en-US" sz="2000" b="1"/>
              <a:t>Implication:</a:t>
            </a:r>
            <a:r>
              <a:rPr lang="en-US" sz="2000"/>
              <a:t> These technologies represent the fastest-growing </a:t>
            </a:r>
            <a:r>
              <a:rPr lang="en-US" sz="2000" b="1"/>
              <a:t>future talent risk</a:t>
            </a:r>
            <a:r>
              <a:rPr lang="en-US" sz="2000"/>
              <a:t>. Companies must actively recruit and engage with early-career talent to secure expertise in high-performance systems.</a:t>
            </a:r>
            <a:endParaRPr lang="en-US"/>
          </a:p>
          <a:p>
            <a:r>
              <a:rPr lang="en-US" sz="2000" b="1" dirty="0">
                <a:latin typeface="IBM Plex Sans"/>
              </a:rPr>
              <a:t>Cloud Preference Validates Open-Source RDBMS:</a:t>
            </a:r>
            <a:endParaRPr lang="en-US" dirty="0">
              <a:latin typeface="IBM Plex Sans"/>
            </a:endParaRPr>
          </a:p>
          <a:p>
            <a:pPr lvl="1"/>
            <a:r>
              <a:rPr lang="en-US" sz="2000" b="1"/>
              <a:t>Finding:</a:t>
            </a:r>
            <a:r>
              <a:rPr lang="en-US" sz="2000"/>
              <a:t> When filtering for developers who primarily use </a:t>
            </a:r>
            <a:r>
              <a:rPr lang="en-US" sz="2000" b="1"/>
              <a:t>Amazon Web Services (AWS)</a:t>
            </a:r>
            <a:r>
              <a:rPr lang="en-US" sz="2000"/>
              <a:t> (the dominant platform), their desire for </a:t>
            </a:r>
            <a:r>
              <a:rPr lang="en-US" sz="2000" b="1"/>
              <a:t>PostgreSQL</a:t>
            </a:r>
            <a:r>
              <a:rPr lang="en-US" sz="2000"/>
              <a:t> is significantly reinforced. This solidifies PostgreSQL as the preferred open-source relational database choice in cloud-native architectures.</a:t>
            </a:r>
            <a:endParaRPr lang="en-US"/>
          </a:p>
          <a:p>
            <a:pPr lvl="1"/>
            <a:r>
              <a:rPr lang="en-US" sz="2000" b="1"/>
              <a:t>Implication:</a:t>
            </a:r>
            <a:r>
              <a:rPr lang="en-US" sz="2000"/>
              <a:t> Database investment and migration strategies should prioritize PostgreSQL integration with leading cloud providers (AWS, Azure) to leverage scalability and developer affinity.</a:t>
            </a:r>
            <a:endParaRPr lang="en-US"/>
          </a:p>
          <a:p>
            <a:r>
              <a:rPr lang="en-US" sz="2000" b="1" dirty="0">
                <a:latin typeface="IBM Plex Sans"/>
              </a:rPr>
              <a:t>End of the Legacy Front-End Stack:</a:t>
            </a:r>
            <a:endParaRPr lang="en-US" dirty="0">
              <a:latin typeface="IBM Plex Sans"/>
            </a:endParaRPr>
          </a:p>
          <a:p>
            <a:pPr lvl="1"/>
            <a:r>
              <a:rPr lang="en-US" sz="2000" b="1" dirty="0">
                <a:latin typeface="IBM Plex Sans"/>
              </a:rPr>
              <a:t>Finding:</a:t>
            </a:r>
            <a:r>
              <a:rPr lang="en-US" sz="2000" dirty="0">
                <a:latin typeface="IBM Plex Sans"/>
              </a:rPr>
              <a:t> The dashboard clearly highlights that while the language </a:t>
            </a:r>
            <a:r>
              <a:rPr lang="en-US" sz="2000" b="1" dirty="0">
                <a:latin typeface="IBM Plex Sans"/>
              </a:rPr>
              <a:t>JavaScript</a:t>
            </a:r>
            <a:r>
              <a:rPr lang="en-US" sz="2000" dirty="0">
                <a:latin typeface="IBM Plex Sans"/>
              </a:rPr>
              <a:t> remains #1, its accompanying legacy framework, </a:t>
            </a:r>
            <a:r>
              <a:rPr lang="en-US" sz="2000" b="1" dirty="0">
                <a:latin typeface="IBM Plex Sans"/>
              </a:rPr>
              <a:t>jQuery</a:t>
            </a:r>
            <a:r>
              <a:rPr lang="en-US" sz="2000" dirty="0">
                <a:latin typeface="IBM Plex Sans"/>
              </a:rPr>
              <a:t>, falls dramatically out of the top desired frameworks. Conversely, </a:t>
            </a:r>
            <a:r>
              <a:rPr lang="en-US" sz="2000" b="1" dirty="0">
                <a:latin typeface="IBM Plex Sans"/>
              </a:rPr>
              <a:t>React</a:t>
            </a:r>
            <a:r>
              <a:rPr lang="en-US" sz="2000" dirty="0">
                <a:latin typeface="IBM Plex Sans"/>
              </a:rPr>
              <a:t> and </a:t>
            </a:r>
            <a:r>
              <a:rPr lang="en-US" sz="2000" b="1" dirty="0">
                <a:latin typeface="IBM Plex Sans"/>
              </a:rPr>
              <a:t>Next.js</a:t>
            </a:r>
            <a:r>
              <a:rPr lang="en-US" sz="2000" dirty="0">
                <a:latin typeface="IBM Plex Sans"/>
              </a:rPr>
              <a:t> show the highest retention and desire among modern developers.</a:t>
            </a:r>
            <a:endParaRPr lang="en-US" dirty="0">
              <a:latin typeface="IBM Plex Sans"/>
            </a:endParaRPr>
          </a:p>
          <a:p>
            <a:pPr lvl="1"/>
            <a:r>
              <a:rPr lang="en-US" sz="2000" b="1" dirty="0">
                <a:latin typeface="IBM Plex Sans"/>
              </a:rPr>
              <a:t>Implication:</a:t>
            </a:r>
            <a:r>
              <a:rPr lang="en-US" sz="2000" dirty="0">
                <a:latin typeface="IBM Plex Sans"/>
              </a:rPr>
              <a:t> Retire systems dependent on legacy web frameworks immediately. Standardize </a:t>
            </a:r>
          </a:p>
        </p:txBody>
      </p:sp>
    </p:spTree>
    <p:custDataLst>
      <p:tags r:id="rId1"/>
    </p:custDataLst>
    <p:extLst>
      <p:ext uri="{BB962C8B-B14F-4D97-AF65-F5344CB8AC3E}">
        <p14:creationId xmlns:p14="http://schemas.microsoft.com/office/powerpoint/2010/main" val="857333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05330-0589-A550-601A-037CA416F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BA8902-AF46-DDE8-D792-7940E18AF629}"/>
              </a:ext>
            </a:extLst>
          </p:cNvPr>
          <p:cNvSpPr>
            <a:spLocks noGrp="1"/>
          </p:cNvSpPr>
          <p:nvPr>
            <p:ph type="title"/>
          </p:nvPr>
        </p:nvSpPr>
        <p:spPr>
          <a:xfrm>
            <a:off x="838200" y="365125"/>
            <a:ext cx="10515600" cy="1325563"/>
          </a:xfrm>
        </p:spPr>
        <p:txBody>
          <a:bodyPr/>
          <a:lstStyle/>
          <a:p>
            <a:r>
              <a:rPr lang="en-US" dirty="0"/>
              <a:t>OVERALL FINDINGS &amp; IMPLICATIONS</a:t>
            </a:r>
          </a:p>
        </p:txBody>
      </p:sp>
      <p:sp>
        <p:nvSpPr>
          <p:cNvPr id="3" name="Content Placeholder 2">
            <a:extLst>
              <a:ext uri="{FF2B5EF4-FFF2-40B4-BE49-F238E27FC236}">
                <a16:creationId xmlns:a16="http://schemas.microsoft.com/office/drawing/2014/main" id="{D196B89C-35B9-C514-4E9C-FCBE8D68D3FD}"/>
              </a:ext>
            </a:extLst>
          </p:cNvPr>
          <p:cNvSpPr>
            <a:spLocks noGrp="1"/>
          </p:cNvSpPr>
          <p:nvPr>
            <p:ph sz="half" idx="1"/>
          </p:nvPr>
        </p:nvSpPr>
        <p:spPr>
          <a:xfrm>
            <a:off x="836227" y="1411008"/>
            <a:ext cx="5159189" cy="4878013"/>
          </a:xfrm>
        </p:spPr>
        <p:txBody>
          <a:bodyPr vert="horz" lIns="91440" tIns="45720" rIns="91440" bIns="45720" rtlCol="0" anchor="t">
            <a:noAutofit/>
          </a:bodyPr>
          <a:lstStyle/>
          <a:p>
            <a:pPr>
              <a:buNone/>
            </a:pPr>
            <a:r>
              <a:rPr lang="en-US" sz="2000" b="1" dirty="0">
                <a:latin typeface="IBM Plex Sans"/>
              </a:rPr>
              <a:t>Findings</a:t>
            </a:r>
          </a:p>
          <a:p>
            <a:r>
              <a:rPr lang="en-US" sz="1600" b="1" dirty="0">
                <a:latin typeface="IBM Plex Sans"/>
              </a:rPr>
              <a:t>Talent Migration to Modernized Languages:</a:t>
            </a:r>
            <a:endParaRPr lang="en-US" sz="1600" dirty="0">
              <a:latin typeface="IBM Plex Sans"/>
            </a:endParaRPr>
          </a:p>
          <a:p>
            <a:pPr marL="971550" lvl="1" indent="-285750"/>
            <a:r>
              <a:rPr lang="en-US" sz="1600" b="1" dirty="0">
                <a:latin typeface="IBM Plex Sans"/>
              </a:rPr>
              <a:t>Python</a:t>
            </a:r>
            <a:r>
              <a:rPr lang="en-US" sz="1600" dirty="0">
                <a:latin typeface="IBM Plex Sans"/>
              </a:rPr>
              <a:t> and </a:t>
            </a:r>
            <a:r>
              <a:rPr lang="en-US" sz="1600" b="1" dirty="0">
                <a:latin typeface="IBM Plex Sans"/>
              </a:rPr>
              <a:t>TypeScript</a:t>
            </a:r>
            <a:r>
              <a:rPr lang="en-US" sz="1600" dirty="0">
                <a:latin typeface="IBM Plex Sans"/>
              </a:rPr>
              <a:t> are solidifying their positions as the core languages for data science/back-end and front-end development, respectively.</a:t>
            </a:r>
          </a:p>
          <a:p>
            <a:pPr marL="971550" lvl="1" indent="-285750"/>
            <a:r>
              <a:rPr lang="en-US" sz="1600" dirty="0">
                <a:latin typeface="IBM Plex Sans"/>
              </a:rPr>
              <a:t>The highest rate of growth in developer desire is concentrated in </a:t>
            </a:r>
            <a:r>
              <a:rPr lang="en-US" sz="1600" b="1" dirty="0">
                <a:latin typeface="IBM Plex Sans"/>
              </a:rPr>
              <a:t>high-performance systems languages</a:t>
            </a:r>
            <a:r>
              <a:rPr lang="en-US" sz="1600" dirty="0">
                <a:latin typeface="IBM Plex Sans"/>
              </a:rPr>
              <a:t> like </a:t>
            </a:r>
            <a:r>
              <a:rPr lang="en-US" sz="1600" b="1" dirty="0">
                <a:latin typeface="IBM Plex Sans"/>
              </a:rPr>
              <a:t>Go</a:t>
            </a:r>
            <a:r>
              <a:rPr lang="en-US" sz="1600" dirty="0">
                <a:latin typeface="IBM Plex Sans"/>
              </a:rPr>
              <a:t> and </a:t>
            </a:r>
            <a:r>
              <a:rPr lang="en-US" sz="1600" b="1" dirty="0">
                <a:latin typeface="IBM Plex Sans"/>
              </a:rPr>
              <a:t>Rust</a:t>
            </a:r>
            <a:r>
              <a:rPr lang="en-US" sz="1600" dirty="0">
                <a:latin typeface="IBM Plex Sans"/>
              </a:rPr>
              <a:t>.</a:t>
            </a:r>
          </a:p>
          <a:p>
            <a:r>
              <a:rPr lang="en-US" sz="1600" b="1" dirty="0">
                <a:latin typeface="IBM Plex Sans"/>
              </a:rPr>
              <a:t>The Rise of the Open-Source Data Ecosystem:</a:t>
            </a:r>
            <a:endParaRPr lang="en-US" sz="1600" dirty="0">
              <a:latin typeface="IBM Plex Sans"/>
            </a:endParaRPr>
          </a:p>
          <a:p>
            <a:pPr marL="971550" lvl="1" indent="-285750"/>
            <a:r>
              <a:rPr lang="en-US" sz="1600" b="1" dirty="0">
                <a:latin typeface="IBM Plex Sans"/>
              </a:rPr>
              <a:t>PostgreSQL</a:t>
            </a:r>
            <a:r>
              <a:rPr lang="en-US" sz="1600" dirty="0">
                <a:latin typeface="IBM Plex Sans"/>
              </a:rPr>
              <a:t> has officially replaced proprietary solutions as the preferred relational database.</a:t>
            </a:r>
          </a:p>
          <a:p>
            <a:pPr marL="971550" lvl="1" indent="-285750"/>
            <a:r>
              <a:rPr lang="en-US" sz="1600" dirty="0">
                <a:latin typeface="IBM Plex Sans"/>
              </a:rPr>
              <a:t>The rapid adoption desire for </a:t>
            </a:r>
            <a:r>
              <a:rPr lang="en-US" sz="1600" b="1" dirty="0">
                <a:latin typeface="IBM Plex Sans"/>
              </a:rPr>
              <a:t>MongoDB</a:t>
            </a:r>
            <a:r>
              <a:rPr lang="en-US" sz="1600" dirty="0">
                <a:latin typeface="IBM Plex Sans"/>
              </a:rPr>
              <a:t> (NoSQL) and </a:t>
            </a:r>
            <a:r>
              <a:rPr lang="en-US" sz="1600" b="1" dirty="0">
                <a:latin typeface="IBM Plex Sans"/>
              </a:rPr>
              <a:t>Redis</a:t>
            </a:r>
            <a:r>
              <a:rPr lang="en-US" sz="1600" dirty="0">
                <a:latin typeface="IBM Plex Sans"/>
              </a:rPr>
              <a:t> (in-memory caching) confirms that modern applications require a </a:t>
            </a:r>
            <a:r>
              <a:rPr lang="en-US" sz="1600" b="1" dirty="0">
                <a:latin typeface="IBM Plex Sans"/>
              </a:rPr>
              <a:t>polyglot persistence</a:t>
            </a:r>
            <a:r>
              <a:rPr lang="en-US" sz="1600" dirty="0">
                <a:latin typeface="IBM Plex Sans"/>
              </a:rPr>
              <a:t> strategy.</a:t>
            </a:r>
            <a:endParaRPr lang="en-US" sz="1600"/>
          </a:p>
        </p:txBody>
      </p:sp>
      <p:sp>
        <p:nvSpPr>
          <p:cNvPr id="4" name="Content Placeholder 3">
            <a:extLst>
              <a:ext uri="{FF2B5EF4-FFF2-40B4-BE49-F238E27FC236}">
                <a16:creationId xmlns:a16="http://schemas.microsoft.com/office/drawing/2014/main" id="{2FDBBA5A-826D-FFFD-F1BE-92269842D330}"/>
              </a:ext>
            </a:extLst>
          </p:cNvPr>
          <p:cNvSpPr>
            <a:spLocks noGrp="1"/>
          </p:cNvSpPr>
          <p:nvPr>
            <p:ph sz="half" idx="2"/>
          </p:nvPr>
        </p:nvSpPr>
        <p:spPr>
          <a:xfrm>
            <a:off x="6093760" y="1422214"/>
            <a:ext cx="5260040" cy="5068513"/>
          </a:xfrm>
        </p:spPr>
        <p:txBody>
          <a:bodyPr vert="horz" lIns="91440" tIns="45720" rIns="91440" bIns="45720" rtlCol="0" anchor="t">
            <a:normAutofit lnSpcReduction="10000"/>
          </a:bodyPr>
          <a:lstStyle/>
          <a:p>
            <a:pPr>
              <a:buNone/>
            </a:pPr>
            <a:r>
              <a:rPr lang="en-US" b="1" dirty="0">
                <a:latin typeface="IBM Plex Sans"/>
              </a:rPr>
              <a:t>Broader Implications</a:t>
            </a:r>
            <a:endParaRPr lang="en-US" dirty="0"/>
          </a:p>
          <a:p>
            <a:r>
              <a:rPr lang="en-US" sz="1600" b="1" dirty="0">
                <a:latin typeface="IBM Plex Sans"/>
              </a:rPr>
              <a:t>Mandate Future-Proofing for Core Systems:</a:t>
            </a:r>
            <a:endParaRPr lang="en-US" sz="1600">
              <a:latin typeface="IBM Plex Sans"/>
            </a:endParaRPr>
          </a:p>
          <a:p>
            <a:pPr marL="971550" lvl="1" indent="-285750"/>
            <a:r>
              <a:rPr lang="en-US" sz="1600" b="1" dirty="0">
                <a:latin typeface="IBM Plex Sans"/>
              </a:rPr>
              <a:t>ACTION:</a:t>
            </a:r>
            <a:r>
              <a:rPr lang="en-US" sz="1600" dirty="0">
                <a:latin typeface="IBM Plex Sans"/>
              </a:rPr>
              <a:t> Immediately begin planning the phased migration of legacy relational databases (MySQL, Oracle, MS SQL Server) to </a:t>
            </a:r>
            <a:r>
              <a:rPr lang="en-US" sz="1600" b="1" dirty="0">
                <a:latin typeface="IBM Plex Sans"/>
              </a:rPr>
              <a:t>PostgreSQL</a:t>
            </a:r>
            <a:r>
              <a:rPr lang="en-US" sz="1600" dirty="0">
                <a:latin typeface="IBM Plex Sans"/>
              </a:rPr>
              <a:t>.</a:t>
            </a:r>
          </a:p>
          <a:p>
            <a:pPr marL="971550" lvl="1" indent="-285750"/>
            <a:r>
              <a:rPr lang="en-US" sz="1600" b="1" dirty="0">
                <a:latin typeface="IBM Plex Sans"/>
              </a:rPr>
              <a:t>IMPACT:</a:t>
            </a:r>
            <a:r>
              <a:rPr lang="en-US" sz="1600" dirty="0">
                <a:latin typeface="IBM Plex Sans"/>
              </a:rPr>
              <a:t> Reduces licensing costs, aligns the data tier with modern cloud architecture, and improves recruitment by focusing on an in-demand open-source technology.</a:t>
            </a:r>
          </a:p>
          <a:p>
            <a:r>
              <a:rPr lang="en-US" sz="1600" b="1" dirty="0">
                <a:latin typeface="IBM Plex Sans"/>
              </a:rPr>
              <a:t>Strategic Talent Investment in Niche Languages:</a:t>
            </a:r>
            <a:endParaRPr lang="en-US" sz="1600">
              <a:latin typeface="IBM Plex Sans"/>
            </a:endParaRPr>
          </a:p>
          <a:p>
            <a:pPr marL="971550" lvl="1" indent="-285750"/>
            <a:r>
              <a:rPr lang="en-US" sz="1600" b="1" dirty="0">
                <a:latin typeface="IBM Plex Sans"/>
              </a:rPr>
              <a:t>ACTION:</a:t>
            </a:r>
            <a:r>
              <a:rPr lang="en-US" sz="1600" dirty="0">
                <a:latin typeface="IBM Plex Sans"/>
              </a:rPr>
              <a:t> Allocate a dedicated training budget and hire specialists for </a:t>
            </a:r>
            <a:r>
              <a:rPr lang="en-US" sz="1600" b="1" dirty="0">
                <a:latin typeface="IBM Plex Sans"/>
              </a:rPr>
              <a:t>Go</a:t>
            </a:r>
            <a:r>
              <a:rPr lang="en-US" sz="1600" dirty="0">
                <a:latin typeface="IBM Plex Sans"/>
              </a:rPr>
              <a:t> and </a:t>
            </a:r>
            <a:r>
              <a:rPr lang="en-US" sz="1600" b="1" dirty="0">
                <a:latin typeface="IBM Plex Sans"/>
              </a:rPr>
              <a:t>Rust</a:t>
            </a:r>
            <a:r>
              <a:rPr lang="en-US" sz="1600" dirty="0">
                <a:latin typeface="IBM Plex Sans"/>
              </a:rPr>
              <a:t>.</a:t>
            </a:r>
          </a:p>
          <a:p>
            <a:pPr marL="971550" lvl="1" indent="-285750"/>
            <a:r>
              <a:rPr lang="en-US" sz="1600" b="1" dirty="0">
                <a:latin typeface="IBM Plex Sans"/>
              </a:rPr>
              <a:t>IMPACT:</a:t>
            </a:r>
            <a:r>
              <a:rPr lang="en-US" sz="1600" dirty="0">
                <a:latin typeface="IBM Plex Sans"/>
              </a:rPr>
              <a:t> Secures long-term competitive advantage in performance-critical areas (e.g., microservices, infrastructure, high-frequency trading), where these languages offer superior efficiency and lower operational costs compared to Python or Java.</a:t>
            </a:r>
          </a:p>
          <a:p>
            <a:pPr marL="0" indent="0">
              <a:buNone/>
            </a:pPr>
            <a:endParaRPr lang="en-US" b="1" dirty="0"/>
          </a:p>
          <a:p>
            <a:pPr marL="0" indent="0">
              <a:buNone/>
            </a:pPr>
            <a:endParaRPr lang="en-US" dirty="0"/>
          </a:p>
        </p:txBody>
      </p:sp>
    </p:spTree>
    <p:custDataLst>
      <p:tags r:id="rId1"/>
    </p:custDataLst>
    <p:extLst>
      <p:ext uri="{BB962C8B-B14F-4D97-AF65-F5344CB8AC3E}">
        <p14:creationId xmlns:p14="http://schemas.microsoft.com/office/powerpoint/2010/main" val="3865637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16F-6AB5-5C0B-5466-65B2A6AE81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5E978FF3-BC93-079A-1687-DD4786B81DF4}"/>
              </a:ext>
            </a:extLst>
          </p:cNvPr>
          <p:cNvSpPr>
            <a:spLocks noGrp="1"/>
          </p:cNvSpPr>
          <p:nvPr>
            <p:ph type="title"/>
          </p:nvPr>
        </p:nvSpPr>
        <p:spPr>
          <a:xfrm>
            <a:off x="838200" y="365125"/>
            <a:ext cx="10515600" cy="1325563"/>
          </a:xfrm>
        </p:spPr>
        <p:txBody>
          <a:bodyPr anchor="ctr">
            <a:normAutofit/>
          </a:bodyPr>
          <a:lstStyle/>
          <a:p>
            <a:r>
              <a:rPr lang="en-US" dirty="0"/>
              <a:t>CONCLUSION</a:t>
            </a:r>
          </a:p>
        </p:txBody>
      </p:sp>
      <p:sp>
        <p:nvSpPr>
          <p:cNvPr id="12" name="Content Placeholder 3">
            <a:extLst>
              <a:ext uri="{FF2B5EF4-FFF2-40B4-BE49-F238E27FC236}">
                <a16:creationId xmlns:a16="http://schemas.microsoft.com/office/drawing/2014/main" id="{2E75918E-509D-16F8-F478-FA41759FEFE9}"/>
              </a:ext>
            </a:extLst>
          </p:cNvPr>
          <p:cNvSpPr txBox="1">
            <a:spLocks/>
          </p:cNvSpPr>
          <p:nvPr/>
        </p:nvSpPr>
        <p:spPr>
          <a:xfrm>
            <a:off x="4544291" y="1467037"/>
            <a:ext cx="6809509" cy="4900426"/>
          </a:xfrm>
          <a:prstGeom prst="rect">
            <a:avLst/>
          </a:prstGeom>
        </p:spPr>
        <p:txBody>
          <a:bodyPr vert="horz" lIns="91440" tIns="45720" rIns="91440" bIns="45720" rtlCol="0" anchor="t">
            <a:normAutofit fontScale="62500" lnSpcReduction="20000"/>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b="1">
                <a:latin typeface="IBM Plex Sans"/>
              </a:rPr>
              <a:t>Concise Conclusion</a:t>
            </a:r>
            <a:endParaRPr lang="en-US"/>
          </a:p>
          <a:p>
            <a:pPr marL="0" indent="0">
              <a:buNone/>
            </a:pPr>
            <a:r>
              <a:rPr lang="en-US" b="1" dirty="0">
                <a:latin typeface="IBM Plex Sans"/>
              </a:rPr>
              <a:t>1.The Dominant Future Stack is Established:</a:t>
            </a:r>
            <a:r>
              <a:rPr lang="en-US" dirty="0">
                <a:latin typeface="IBM Plex Sans"/>
              </a:rPr>
              <a:t> The core developer ecosystem is consolidating around </a:t>
            </a:r>
            <a:r>
              <a:rPr lang="en-US" b="1" dirty="0">
                <a:latin typeface="IBM Plex Sans"/>
              </a:rPr>
              <a:t>TypeScript (Frontend)</a:t>
            </a:r>
            <a:r>
              <a:rPr lang="en-US" dirty="0">
                <a:latin typeface="IBM Plex Sans"/>
              </a:rPr>
              <a:t> and </a:t>
            </a:r>
            <a:r>
              <a:rPr lang="en-US" b="1" dirty="0">
                <a:latin typeface="IBM Plex Sans"/>
              </a:rPr>
              <a:t>Python (Backend/Data Science)</a:t>
            </a:r>
            <a:r>
              <a:rPr lang="en-US" dirty="0">
                <a:latin typeface="IBM Plex Sans"/>
              </a:rPr>
              <a:t>, forming the high-demand foundation for modern application development.</a:t>
            </a:r>
            <a:br>
              <a:rPr lang="en-US" dirty="0">
                <a:latin typeface="IBM Plex Sans"/>
              </a:rPr>
            </a:br>
            <a:br>
              <a:rPr lang="en-US" dirty="0">
                <a:latin typeface="IBM Plex Sans"/>
              </a:rPr>
            </a:br>
            <a:r>
              <a:rPr lang="en-US" b="1" dirty="0">
                <a:latin typeface="IBM Plex Sans"/>
              </a:rPr>
              <a:t>2.High-Performance Talent is the Key Differentiator:</a:t>
            </a:r>
            <a:r>
              <a:rPr lang="en-US" dirty="0">
                <a:latin typeface="IBM Plex Sans"/>
              </a:rPr>
              <a:t> The fastest-growing desire among developers is for specialized, efficient languages like </a:t>
            </a:r>
            <a:r>
              <a:rPr lang="en-US" b="1" dirty="0">
                <a:latin typeface="IBM Plex Sans"/>
              </a:rPr>
              <a:t>Go</a:t>
            </a:r>
            <a:r>
              <a:rPr lang="en-US" dirty="0">
                <a:latin typeface="IBM Plex Sans"/>
              </a:rPr>
              <a:t> and </a:t>
            </a:r>
            <a:r>
              <a:rPr lang="en-US" b="1" dirty="0">
                <a:latin typeface="IBM Plex Sans"/>
              </a:rPr>
              <a:t>Rust</a:t>
            </a:r>
            <a:r>
              <a:rPr lang="en-US" dirty="0">
                <a:latin typeface="IBM Plex Sans"/>
              </a:rPr>
              <a:t>, signaling a critical market need for engineers capable of building low-latency, resilient systems.</a:t>
            </a:r>
            <a:br>
              <a:rPr lang="en-US" dirty="0">
                <a:latin typeface="IBM Plex Sans"/>
              </a:rPr>
            </a:br>
            <a:br>
              <a:rPr lang="en-US" dirty="0">
                <a:latin typeface="IBM Plex Sans"/>
              </a:rPr>
            </a:br>
            <a:r>
              <a:rPr lang="en-US" b="1" dirty="0">
                <a:latin typeface="IBM Plex Sans"/>
              </a:rPr>
              <a:t>3.Database Strategy Must Be Polyglot:</a:t>
            </a:r>
            <a:r>
              <a:rPr lang="en-US" dirty="0">
                <a:latin typeface="IBM Plex Sans"/>
              </a:rPr>
              <a:t> Proprietary relational databases are being superseded by the highly desired </a:t>
            </a:r>
            <a:r>
              <a:rPr lang="en-US" b="1" dirty="0">
                <a:latin typeface="IBM Plex Sans"/>
              </a:rPr>
              <a:t>PostgreSQL</a:t>
            </a:r>
            <a:r>
              <a:rPr lang="en-US" dirty="0">
                <a:latin typeface="IBM Plex Sans"/>
              </a:rPr>
              <a:t>. A modern data strategy must embrace both relational (PostgreSQL) and specialized NoSQL/caching solutions (</a:t>
            </a:r>
            <a:r>
              <a:rPr lang="en-US" b="1" dirty="0">
                <a:latin typeface="IBM Plex Sans"/>
              </a:rPr>
              <a:t>Redis, MongoDB</a:t>
            </a:r>
            <a:r>
              <a:rPr lang="en-US" dirty="0">
                <a:latin typeface="IBM Plex Sans"/>
              </a:rPr>
              <a:t>).</a:t>
            </a:r>
            <a:br>
              <a:rPr lang="en-US" dirty="0">
                <a:latin typeface="IBM Plex Sans"/>
              </a:rPr>
            </a:br>
            <a:br>
              <a:rPr lang="en-US" dirty="0">
                <a:latin typeface="IBM Plex Sans"/>
              </a:rPr>
            </a:br>
            <a:r>
              <a:rPr lang="en-US" b="1" dirty="0">
                <a:latin typeface="IBM Plex Sans"/>
              </a:rPr>
              <a:t>4.Architectural Relevance is Tied to Talent Acquisition:</a:t>
            </a:r>
            <a:r>
              <a:rPr lang="en-US" dirty="0">
                <a:latin typeface="IBM Plex Sans"/>
              </a:rPr>
              <a:t> By prioritizing technologies favored by the largest and most active developer cohort (age 25–34, preferring </a:t>
            </a:r>
            <a:r>
              <a:rPr lang="en-US" b="1" dirty="0">
                <a:latin typeface="IBM Plex Sans"/>
              </a:rPr>
              <a:t>React/Next.js</a:t>
            </a:r>
            <a:r>
              <a:rPr lang="en-US" dirty="0">
                <a:latin typeface="IBM Plex Sans"/>
              </a:rPr>
              <a:t>), organizations ensure recruitment success and guarantee a long-term, maintainable technological infrastructure.</a:t>
            </a:r>
            <a:endParaRPr lang="en-US" dirty="0"/>
          </a:p>
        </p:txBody>
      </p:sp>
      <p:pic>
        <p:nvPicPr>
          <p:cNvPr id="13" name="Content Placeholder 5">
            <a:extLst>
              <a:ext uri="{FF2B5EF4-FFF2-40B4-BE49-F238E27FC236}">
                <a16:creationId xmlns:a16="http://schemas.microsoft.com/office/drawing/2014/main" id="{CD985AE9-0D12-3398-B9B7-4395CABF1707}"/>
              </a:ext>
            </a:extLst>
          </p:cNvPr>
          <p:cNvPicPr>
            <a:picLocks noGrp="1" noChangeAspect="1"/>
          </p:cNvPicPr>
          <p:nvPr>
            <p:ph sz="half" idx="1"/>
          </p:nvPr>
        </p:nvPicPr>
        <p:blipFill>
          <a:blip r:embed="rId3"/>
          <a:stretch>
            <a:fillRect/>
          </a:stretch>
        </p:blipFill>
        <p:spPr>
          <a:xfrm>
            <a:off x="1125967" y="2113896"/>
            <a:ext cx="3054361" cy="3054361"/>
          </a:xfrm>
          <a:prstGeom prst="rect">
            <a:avLst/>
          </a:prstGeom>
        </p:spPr>
      </p:pic>
    </p:spTree>
    <p:custDataLst>
      <p:tags r:id="rId1"/>
    </p:custDataLst>
    <p:extLst>
      <p:ext uri="{BB962C8B-B14F-4D97-AF65-F5344CB8AC3E}">
        <p14:creationId xmlns:p14="http://schemas.microsoft.com/office/powerpoint/2010/main" val="840378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1598F-DBE3-7B78-D1F9-0BA7F7DC75B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34A3B939-6057-23B6-25B3-E33A2D205C2A}"/>
              </a:ext>
            </a:extLst>
          </p:cNvPr>
          <p:cNvSpPr>
            <a:spLocks noGrp="1"/>
          </p:cNvSpPr>
          <p:nvPr>
            <p:ph type="title"/>
          </p:nvPr>
        </p:nvSpPr>
        <p:spPr>
          <a:xfrm>
            <a:off x="838200" y="365125"/>
            <a:ext cx="10515600" cy="1325563"/>
          </a:xfrm>
        </p:spPr>
        <p:txBody>
          <a:bodyPr anchor="ctr">
            <a:normAutofit/>
          </a:bodyPr>
          <a:lstStyle/>
          <a:p>
            <a:r>
              <a:rPr lang="en-US" dirty="0"/>
              <a:t>APPENDIX</a:t>
            </a:r>
          </a:p>
        </p:txBody>
      </p:sp>
      <p:sp>
        <p:nvSpPr>
          <p:cNvPr id="10" name="Content Placeholder 3">
            <a:extLst>
              <a:ext uri="{FF2B5EF4-FFF2-40B4-BE49-F238E27FC236}">
                <a16:creationId xmlns:a16="http://schemas.microsoft.com/office/drawing/2014/main" id="{8E40FF55-AE57-CB43-454D-CEFBE080CE8E}"/>
              </a:ext>
            </a:extLst>
          </p:cNvPr>
          <p:cNvSpPr txBox="1">
            <a:spLocks/>
          </p:cNvSpPr>
          <p:nvPr/>
        </p:nvSpPr>
        <p:spPr>
          <a:xfrm>
            <a:off x="4544291" y="1444625"/>
            <a:ext cx="6809509" cy="47323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b="1" dirty="0">
                <a:latin typeface="IBM Plex Sans"/>
              </a:rPr>
              <a:t>Job Postings vs. Developer Desire</a:t>
            </a:r>
            <a:endParaRPr lang="en-US" dirty="0">
              <a:latin typeface="IBM Plex Sans"/>
            </a:endParaRPr>
          </a:p>
          <a:p>
            <a:r>
              <a:rPr lang="en-US" sz="2000" dirty="0">
                <a:latin typeface="IBM Plex Sans"/>
              </a:rPr>
              <a:t>This section presents real-world market demand for technology, contrasting it with developer preferences shown in the main presentation.</a:t>
            </a:r>
            <a:endParaRPr lang="en-US" sz="2000" dirty="0"/>
          </a:p>
          <a:p>
            <a:pPr marL="0" indent="0">
              <a:buNone/>
            </a:pPr>
            <a:r>
              <a:rPr lang="en-US" b="1" dirty="0">
                <a:latin typeface="IBM Plex Sans"/>
              </a:rPr>
              <a:t>Key Takeaway</a:t>
            </a:r>
            <a:endParaRPr lang="en-US" sz="1800" dirty="0">
              <a:latin typeface="IBM Plex Sans"/>
            </a:endParaRPr>
          </a:p>
          <a:p>
            <a:r>
              <a:rPr lang="en-US" sz="2000" dirty="0">
                <a:latin typeface="IBM Plex Sans"/>
              </a:rPr>
              <a:t>There is a significant lag between developer trends and current hiring needs. While Python and Go lead future desire, the volume of job postings is dominated by entrenched, legacy languages (C and Java). This creates a highly competitive environment for the scarce talent proficient in modern, desired technologies.</a:t>
            </a:r>
          </a:p>
          <a:p>
            <a:endParaRPr lang="en-US" sz="1800" dirty="0">
              <a:latin typeface="IBM Plex Sans"/>
            </a:endParaRPr>
          </a:p>
          <a:p>
            <a:endParaRPr lang="en-US" sz="2000" dirty="0"/>
          </a:p>
          <a:p>
            <a:endParaRPr lang="en-US" sz="2000" dirty="0"/>
          </a:p>
          <a:p>
            <a:endParaRPr lang="en-US" sz="2000" dirty="0"/>
          </a:p>
          <a:p>
            <a:endParaRPr lang="en-US" sz="2000" dirty="0"/>
          </a:p>
          <a:p>
            <a:endParaRPr lang="en-US" dirty="0"/>
          </a:p>
        </p:txBody>
      </p:sp>
      <p:pic>
        <p:nvPicPr>
          <p:cNvPr id="11" name="Content Placeholder 3">
            <a:extLst>
              <a:ext uri="{FF2B5EF4-FFF2-40B4-BE49-F238E27FC236}">
                <a16:creationId xmlns:a16="http://schemas.microsoft.com/office/drawing/2014/main" id="{E8E550E5-7A15-A106-D083-8C1433A790A1}"/>
              </a:ext>
            </a:extLst>
          </p:cNvPr>
          <p:cNvPicPr>
            <a:picLocks noGrp="1" noChangeAspect="1"/>
          </p:cNvPicPr>
          <p:nvPr>
            <p:ph sz="half" idx="1"/>
          </p:nvPr>
        </p:nvPicPr>
        <p:blipFill>
          <a:blip r:embed="rId3"/>
          <a:stretch>
            <a:fillRect/>
          </a:stretch>
        </p:blipFill>
        <p:spPr>
          <a:xfrm>
            <a:off x="1055857" y="1849823"/>
            <a:ext cx="3194581" cy="3194581"/>
          </a:xfrm>
          <a:prstGeom prst="rect">
            <a:avLst/>
          </a:prstGeom>
        </p:spPr>
      </p:pic>
    </p:spTree>
    <p:custDataLst>
      <p:tags r:id="rId1"/>
    </p:custDataLst>
    <p:extLst>
      <p:ext uri="{BB962C8B-B14F-4D97-AF65-F5344CB8AC3E}">
        <p14:creationId xmlns:p14="http://schemas.microsoft.com/office/powerpoint/2010/main" val="1860158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C4E31-32FC-4A23-CEF9-98F0BB9F13E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334EF5D-2E2A-7FE5-06C6-01ACAB1F420F}"/>
              </a:ext>
            </a:extLst>
          </p:cNvPr>
          <p:cNvSpPr>
            <a:spLocks noGrp="1"/>
          </p:cNvSpPr>
          <p:nvPr>
            <p:ph type="title"/>
          </p:nvPr>
        </p:nvSpPr>
        <p:spPr>
          <a:xfrm>
            <a:off x="538248" y="383051"/>
            <a:ext cx="5929053" cy="1325563"/>
          </a:xfrm>
        </p:spPr>
        <p:txBody>
          <a:bodyPr anchor="ctr">
            <a:normAutofit/>
          </a:bodyPr>
          <a:lstStyle/>
          <a:p>
            <a:r>
              <a:rPr lang="en-US" dirty="0"/>
              <a:t> JOB POSTINGS</a:t>
            </a:r>
          </a:p>
        </p:txBody>
      </p:sp>
      <p:sp>
        <p:nvSpPr>
          <p:cNvPr id="10" name="Content Placeholder 2">
            <a:extLst>
              <a:ext uri="{FF2B5EF4-FFF2-40B4-BE49-F238E27FC236}">
                <a16:creationId xmlns:a16="http://schemas.microsoft.com/office/drawing/2014/main" id="{83F79416-0AFB-FC80-07E8-3CF2B4E7E798}"/>
              </a:ext>
            </a:extLst>
          </p:cNvPr>
          <p:cNvSpPr txBox="1">
            <a:spLocks/>
          </p:cNvSpPr>
          <p:nvPr/>
        </p:nvSpPr>
        <p:spPr>
          <a:xfrm>
            <a:off x="914400" y="1474209"/>
            <a:ext cx="10489276" cy="464448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800">
                <a:latin typeface="IBM Plex Sans"/>
              </a:rPr>
              <a:t>Job Postings by Technology (Real-World Demand)</a:t>
            </a:r>
          </a:p>
          <a:p>
            <a:r>
              <a:rPr lang="en-US" sz="1800" dirty="0">
                <a:latin typeface="IBM Plex Sans"/>
              </a:rPr>
              <a:t>While the survey highlights future desire for languages like Python and Go, the current real-world demand (job postings) is still heavily dominated by entrenched enterprise and systems programming languages like </a:t>
            </a:r>
            <a:r>
              <a:rPr lang="en-US" sz="1800" b="1" dirty="0">
                <a:latin typeface="IBM Plex Sans"/>
              </a:rPr>
              <a:t>C</a:t>
            </a:r>
            <a:r>
              <a:rPr lang="en-US" sz="1800" dirty="0">
                <a:latin typeface="IBM Plex Sans"/>
              </a:rPr>
              <a:t> and </a:t>
            </a:r>
            <a:r>
              <a:rPr lang="en-US" sz="1800" b="1" dirty="0">
                <a:latin typeface="IBM Plex Sans"/>
              </a:rPr>
              <a:t>Java</a:t>
            </a:r>
            <a:r>
              <a:rPr lang="en-US" sz="1800" dirty="0">
                <a:latin typeface="IBM Plex Sans"/>
              </a:rPr>
              <a:t>. This indicates a significant lag between developer trends and current organizational hiring needs.</a:t>
            </a:r>
            <a:endParaRPr lang="en-US" sz="1800" dirty="0"/>
          </a:p>
          <a:p>
            <a:pPr marL="0" indent="0">
              <a:buNone/>
            </a:pPr>
            <a:endParaRPr lang="en-US" sz="2200" dirty="0"/>
          </a:p>
          <a:p>
            <a:pPr marL="0" indent="0">
              <a:buNone/>
            </a:pPr>
            <a:endParaRPr lang="en-US" sz="2200" dirty="0"/>
          </a:p>
        </p:txBody>
      </p:sp>
      <p:pic>
        <p:nvPicPr>
          <p:cNvPr id="2" name="Picture 1" descr="A graph of a number of blue squares&#10;&#10;AI-generated content may be incorrect.">
            <a:extLst>
              <a:ext uri="{FF2B5EF4-FFF2-40B4-BE49-F238E27FC236}">
                <a16:creationId xmlns:a16="http://schemas.microsoft.com/office/drawing/2014/main" id="{5014CB8B-F417-1D04-FEEE-69AEED051BFB}"/>
              </a:ext>
            </a:extLst>
          </p:cNvPr>
          <p:cNvPicPr>
            <a:picLocks noChangeAspect="1"/>
          </p:cNvPicPr>
          <p:nvPr/>
        </p:nvPicPr>
        <p:blipFill>
          <a:blip r:embed="rId3"/>
          <a:stretch>
            <a:fillRect/>
          </a:stretch>
        </p:blipFill>
        <p:spPr>
          <a:xfrm>
            <a:off x="2330823" y="2935941"/>
            <a:ext cx="6219266" cy="3709147"/>
          </a:xfrm>
          <a:prstGeom prst="rect">
            <a:avLst/>
          </a:prstGeom>
        </p:spPr>
      </p:pic>
    </p:spTree>
    <p:custDataLst>
      <p:tags r:id="rId1"/>
    </p:custDataLst>
    <p:extLst>
      <p:ext uri="{BB962C8B-B14F-4D97-AF65-F5344CB8AC3E}">
        <p14:creationId xmlns:p14="http://schemas.microsoft.com/office/powerpoint/2010/main" val="1935373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B558-7141-B0CE-D399-712C1073BFD7}"/>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12CF5900-71B3-70B0-7CF1-4A1C535AD04B}"/>
              </a:ext>
            </a:extLst>
          </p:cNvPr>
          <p:cNvSpPr>
            <a:spLocks noGrp="1"/>
          </p:cNvSpPr>
          <p:nvPr>
            <p:ph type="title"/>
          </p:nvPr>
        </p:nvSpPr>
        <p:spPr>
          <a:xfrm>
            <a:off x="538248" y="383051"/>
            <a:ext cx="5929053" cy="1325563"/>
          </a:xfrm>
        </p:spPr>
        <p:txBody>
          <a:bodyPr anchor="ctr">
            <a:normAutofit/>
          </a:bodyPr>
          <a:lstStyle/>
          <a:p>
            <a:r>
              <a:rPr lang="en-US" dirty="0"/>
              <a:t>POPULAR LANGUAGES</a:t>
            </a:r>
          </a:p>
        </p:txBody>
      </p:sp>
      <p:sp>
        <p:nvSpPr>
          <p:cNvPr id="7" name="Content Placeholder 2">
            <a:extLst>
              <a:ext uri="{FF2B5EF4-FFF2-40B4-BE49-F238E27FC236}">
                <a16:creationId xmlns:a16="http://schemas.microsoft.com/office/drawing/2014/main" id="{95B1AABA-34AF-B1F5-3C7F-11AEB9E03637}"/>
              </a:ext>
            </a:extLst>
          </p:cNvPr>
          <p:cNvSpPr txBox="1">
            <a:spLocks/>
          </p:cNvSpPr>
          <p:nvPr/>
        </p:nvSpPr>
        <p:spPr>
          <a:xfrm>
            <a:off x="878305" y="2191385"/>
            <a:ext cx="10525371" cy="2862753"/>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a:buChar char="•"/>
              <a:defRPr sz="2800" kern="1200">
                <a:solidFill>
                  <a:srgbClr val="262626"/>
                </a:solidFill>
                <a:latin typeface="IBM Plex Sans" panose="020B0503050203000203" pitchFamily="34" charset="0"/>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rgbClr val="262626"/>
                </a:solidFill>
                <a:latin typeface="IBM Plex Sans" panose="020B0503050203000203" pitchFamily="34" charset="0"/>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rgbClr val="262626"/>
                </a:solidFill>
                <a:latin typeface="IBM Plex Sans" panose="020B0503050203000203" pitchFamily="34" charset="0"/>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rgbClr val="525252"/>
                </a:solidFill>
                <a:latin typeface="IBM Plex Sans" panose="020B0503050203000203" pitchFamily="34"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Font typeface="Arial"/>
              <a:buNone/>
            </a:pPr>
            <a:endParaRPr lang="en-US" sz="2200" dirty="0"/>
          </a:p>
        </p:txBody>
      </p:sp>
      <p:sp>
        <p:nvSpPr>
          <p:cNvPr id="3" name="TextBox 2">
            <a:extLst>
              <a:ext uri="{FF2B5EF4-FFF2-40B4-BE49-F238E27FC236}">
                <a16:creationId xmlns:a16="http://schemas.microsoft.com/office/drawing/2014/main" id="{4E0B261E-8114-5012-043F-AA8C80FD8237}"/>
              </a:ext>
            </a:extLst>
          </p:cNvPr>
          <p:cNvSpPr txBox="1"/>
          <p:nvPr/>
        </p:nvSpPr>
        <p:spPr>
          <a:xfrm>
            <a:off x="1159302" y="1587140"/>
            <a:ext cx="971606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t>Github</a:t>
            </a:r>
            <a:r>
              <a:rPr lang="en-US" dirty="0"/>
              <a:t> Link of CSV - </a:t>
            </a:r>
            <a:r>
              <a:rPr lang="en-US" dirty="0">
                <a:ea typeface="+mn-lt"/>
                <a:cs typeface="+mn-lt"/>
              </a:rPr>
              <a:t>https://github.com/mohanccse/Capstone_Project_Repo/blob/57c10c1f41e00f138155553ee3a4be5627248024/popular-languages.csv</a:t>
            </a:r>
            <a:endParaRPr lang="en-US" dirty="0"/>
          </a:p>
        </p:txBody>
      </p:sp>
      <p:pic>
        <p:nvPicPr>
          <p:cNvPr id="4" name="Picture 3" descr="A graph of a number of languages&#10;&#10;AI-generated content may be incorrect.">
            <a:extLst>
              <a:ext uri="{FF2B5EF4-FFF2-40B4-BE49-F238E27FC236}">
                <a16:creationId xmlns:a16="http://schemas.microsoft.com/office/drawing/2014/main" id="{136885E0-595B-2DEE-F1A4-B652E83F1A8C}"/>
              </a:ext>
            </a:extLst>
          </p:cNvPr>
          <p:cNvPicPr>
            <a:picLocks noChangeAspect="1"/>
          </p:cNvPicPr>
          <p:nvPr/>
        </p:nvPicPr>
        <p:blipFill>
          <a:blip r:embed="rId3"/>
          <a:stretch>
            <a:fillRect/>
          </a:stretch>
        </p:blipFill>
        <p:spPr>
          <a:xfrm>
            <a:off x="1568823" y="2510117"/>
            <a:ext cx="8650941" cy="3955677"/>
          </a:xfrm>
          <a:prstGeom prst="rect">
            <a:avLst/>
          </a:prstGeom>
        </p:spPr>
      </p:pic>
    </p:spTree>
    <p:custDataLst>
      <p:tags r:id="rId1"/>
    </p:custDataLst>
    <p:extLst>
      <p:ext uri="{BB962C8B-B14F-4D97-AF65-F5344CB8AC3E}">
        <p14:creationId xmlns:p14="http://schemas.microsoft.com/office/powerpoint/2010/main" val="19459025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8"/>
  <p:tag name="ARTICULATE_DESIGN_ID_SLIDE_TEMPLATE_SKILL_NETWORK" val="762xjmeN"/>
  <p:tag name="ARTICULATE_DESIGN_ID_IBM DEVELOPER 2018 WHITE BACKGROUND" val="AcyDFp8V"/>
  <p:tag name="ARTICULATE_SLIDE_THUMBNAIL_REFRESH" val="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LIDE_TEMPLATE_skill_network">
  <a:themeElements>
    <a:clrScheme name="IBM Skills Network">
      <a:dk1>
        <a:srgbClr val="262626"/>
      </a:dk1>
      <a:lt1>
        <a:srgbClr val="525252"/>
      </a:lt1>
      <a:dk2>
        <a:srgbClr val="FFFFFF"/>
      </a:dk2>
      <a:lt2>
        <a:srgbClr val="FFFFFF"/>
      </a:lt2>
      <a:accent1>
        <a:srgbClr val="6C4DEA"/>
      </a:accent1>
      <a:accent2>
        <a:srgbClr val="82CFFF"/>
      </a:accent2>
      <a:accent3>
        <a:srgbClr val="FF7EB6"/>
      </a:accent3>
      <a:accent4>
        <a:srgbClr val="3DDBD9"/>
      </a:accent4>
      <a:accent5>
        <a:srgbClr val="5B9BD5"/>
      </a:accent5>
      <a:accent6>
        <a:srgbClr val="525252"/>
      </a:accent6>
      <a:hlink>
        <a:srgbClr val="C1C7CD"/>
      </a:hlink>
      <a:folHlink>
        <a:srgbClr val="DA1E28"/>
      </a:folHlink>
    </a:clrScheme>
    <a:fontScheme name="IBM Skills Network">
      <a:majorFont>
        <a:latin typeface="IBM Plex Sans SemiBold"/>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BM Skills Network PPT Template 01.2023.pptx" id="{565886F7-76CC-4370-877F-2511E1EB1B28}" vid="{AD061E48-3596-4052-9172-46F1919207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55be751-a274-42e8-93fb-f39d3b9bccc8">
      <Terms xmlns="http://schemas.microsoft.com/office/infopath/2007/PartnerControls"/>
    </lcf76f155ced4ddcb4097134ff3c332f>
    <TaxCatchAll xmlns="f80a141d-92ca-4d3d-9308-f7e7b1d44ce8" xsi:nil="true"/>
    <AWBlink xmlns="155be751-a274-42e8-93fb-f39d3b9bccc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ECD86F56755A646AC8AFCBCBD967F21" ma:contentTypeVersion="19" ma:contentTypeDescription="Create a new document." ma:contentTypeScope="" ma:versionID="d7279d4efbac013e02c1e816bc7f7c13">
  <xsd:schema xmlns:xsd="http://www.w3.org/2001/XMLSchema" xmlns:xs="http://www.w3.org/2001/XMLSchema" xmlns:p="http://schemas.microsoft.com/office/2006/metadata/properties" xmlns:ns2="155be751-a274-42e8-93fb-f39d3b9bccc8" xmlns:ns3="f80a141d-92ca-4d3d-9308-f7e7b1d44ce8" targetNamespace="http://schemas.microsoft.com/office/2006/metadata/properties" ma:root="true" ma:fieldsID="0a3fd1dbe83fc08387abb87098562ef0" ns2:_="" ns3:_="">
    <xsd:import namespace="155be751-a274-42e8-93fb-f39d3b9bccc8"/>
    <xsd:import namespace="f80a141d-92ca-4d3d-9308-f7e7b1d44ce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AWBlin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5be751-a274-42e8-93fb-f39d3b9bccc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bfc8dc1-ab14-4a6b-8a4a-9f7f0b948a94"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AWBlink" ma:index="25" nillable="true" ma:displayName="AWB link" ma:description="Author Workbench link" ma:format="Dropdown" ma:internalName="AWBlink">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80a141d-92ca-4d3d-9308-f7e7b1d44ce8"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2edd55d-11a0-43df-8094-42adcb6055ca}" ma:internalName="TaxCatchAll" ma:showField="CatchAllData" ma:web="f80a141d-92ca-4d3d-9308-f7e7b1d44ce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4DA07C5-A406-4A0D-B3E6-3856C94AC7F3}">
  <ds:schemaRefs>
    <ds:schemaRef ds:uri="155be751-a274-42e8-93fb-f39d3b9bccc8"/>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f80a141d-92ca-4d3d-9308-f7e7b1d44ce8"/>
    <ds:schemaRef ds:uri="http://www.w3.org/XML/1998/namespace"/>
    <ds:schemaRef ds:uri="http://purl.org/dc/terms/"/>
  </ds:schemaRefs>
</ds:datastoreItem>
</file>

<file path=customXml/itemProps2.xml><?xml version="1.0" encoding="utf-8"?>
<ds:datastoreItem xmlns:ds="http://schemas.openxmlformats.org/officeDocument/2006/customXml" ds:itemID="{BEAB06F8-DBB4-44C7-AF84-8B098C8B03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55be751-a274-42e8-93fb-f39d3b9bccc8"/>
    <ds:schemaRef ds:uri="f80a141d-92ca-4d3d-9308-f7e7b1d44c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EFDA260-DDA0-422C-B7AE-778F653FBB3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IBM PPT Temp Jan 2023</Template>
  <TotalTime>5</TotalTime>
  <Words>351</Words>
  <Application>Microsoft Office PowerPoint</Application>
  <PresentationFormat>Widescreen</PresentationFormat>
  <Paragraphs>107</Paragraphs>
  <Slides>19</Slides>
  <Notes>0</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SLIDE_TEMPLATE_skill_network</vt:lpstr>
      <vt:lpstr>Analysis of Global Developer  Technology Trends (2025) </vt:lpstr>
      <vt:lpstr>PowerPoint Presentation</vt:lpstr>
      <vt:lpstr>EXECUTIVE SUMMARY</vt:lpstr>
      <vt:lpstr>INTRODUCTION</vt:lpstr>
      <vt:lpstr>METHODOLOGY</vt:lpstr>
      <vt:lpstr>PROGRAMMING LANGUAGE TRENDS</vt:lpstr>
      <vt:lpstr>PROGRAMMING LANGUAGE TRENDS - FINDINGS &amp; IMPLICATIONS</vt:lpstr>
      <vt:lpstr>DATABASE TRENDS</vt:lpstr>
      <vt:lpstr>DATABASE TRENDS - FINDINGS &amp; IMPLICATIONS</vt:lpstr>
      <vt:lpstr>DASHBOARD</vt:lpstr>
      <vt:lpstr>DASHBOARD TAB 1</vt:lpstr>
      <vt:lpstr>DASHBOARD TAB 2</vt:lpstr>
      <vt:lpstr>DASHBOARD TAB 3</vt:lpstr>
      <vt:lpstr>DISCUSSION</vt:lpstr>
      <vt:lpstr>OVERALL FINDINGS &amp; IMPLICATIONS</vt:lpstr>
      <vt:lpstr>CONCLUSION</vt:lpstr>
      <vt:lpstr>APPENDIX</vt:lpstr>
      <vt:lpstr> JOB POSTINGS</vt:lpstr>
      <vt:lpstr>POPULAR LANGUAGES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Tori Sleeper</dc:creator>
  <cp:lastModifiedBy>Tori Sleeper</cp:lastModifiedBy>
  <cp:revision>346</cp:revision>
  <dcterms:created xsi:type="dcterms:W3CDTF">2024-10-30T05:40:03Z</dcterms:created>
  <dcterms:modified xsi:type="dcterms:W3CDTF">2025-11-23T21:22:21Z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0x010100EECD86F56755A646AC8AFCBCBD967F21</vt:lpwstr>
  </property>
  <property fmtid="{D5CDD505-2E9C-101B-9397-08002B2CF9AE}" pid="3" name="MediaServiceImageTags">
    <vt:lpwstr/>
  </property>
  <property fmtid="{D5CDD505-2E9C-101B-9397-08002B2CF9AE}" pid="4" name="ArticulateGUID">
    <vt:lpwstr>07C438A6-8092-445C-AC0D-AE1422093206</vt:lpwstr>
  </property>
  <property fmtid="{D5CDD505-2E9C-101B-9397-08002B2CF9AE}" pid="5" name="ArticulatePath">
    <vt:lpwstr>https://skilluptech.sharepoint.com/sites/Coursera/Shared Documents/General/PPT template/IBM Skills Network PPT Template 01.2023</vt:lpwstr>
  </property>
</Properties>
</file>